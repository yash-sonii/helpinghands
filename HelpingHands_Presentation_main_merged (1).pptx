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9.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72FB823-39BE-4A6D-8B29-9FD0EA98724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3"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92E60DF-7F36-4821-B228-E1279670F097}"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0"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227B08BC-400B-45C4-B8E5-7E7F1AB5F325}"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26"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7"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A63AD49-AAC4-4DEB-9474-B92AF18FA8E3}"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33"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4"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F60F28C-B270-44E9-B107-9FBD0843830F}" type="slidenum">
              <a:t>&lt;#&gt;</a:t>
            </a:fld>
          </a:p>
        </p:txBody>
      </p:sp>
      <p:sp>
        <p:nvSpPr>
          <p:cNvPr id="6" name="PlaceHolder 5"/>
          <p:cNvSpPr>
            <a:spLocks noGrp="1"/>
          </p:cNvSpPr>
          <p:nvPr>
            <p:ph type="dt" idx="1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a:t>
            </a:r>
            <a:r>
              <a:rPr b="0" lang="en-US" sz="4400" spc="-1" strike="noStrike">
                <a:solidFill>
                  <a:schemeClr val="dk1"/>
                </a:solidFill>
                <a:latin typeface="Calibri"/>
              </a:rPr>
              <a:t>k to </a:t>
            </a:r>
            <a:r>
              <a:rPr b="0" lang="en-US" sz="4400" spc="-1" strike="noStrike">
                <a:solidFill>
                  <a:schemeClr val="dk1"/>
                </a:solidFill>
                <a:latin typeface="Calibri"/>
              </a:rPr>
              <a:t>edi</a:t>
            </a:r>
            <a:r>
              <a:rPr b="0" lang="en-US" sz="4400" spc="-1" strike="noStrike">
                <a:solidFill>
                  <a:schemeClr val="dk1"/>
                </a:solidFill>
                <a:latin typeface="Calibri"/>
              </a:rPr>
              <a:t>t </a:t>
            </a:r>
            <a:r>
              <a:rPr b="0" lang="en-US" sz="4400" spc="-1" strike="noStrike">
                <a:solidFill>
                  <a:schemeClr val="dk1"/>
                </a:solidFill>
                <a:latin typeface="Calibri"/>
              </a:rPr>
              <a:t>the </a:t>
            </a:r>
            <a:r>
              <a:rPr b="0" lang="en-US" sz="4400" spc="-1" strike="noStrike">
                <a:solidFill>
                  <a:schemeClr val="dk1"/>
                </a:solidFill>
                <a:latin typeface="Calibri"/>
              </a:rPr>
              <a:t>titl</a:t>
            </a:r>
            <a:r>
              <a:rPr b="0" lang="en-US" sz="4400" spc="-1" strike="noStrike">
                <a:solidFill>
                  <a:schemeClr val="dk1"/>
                </a:solidFill>
                <a:latin typeface="Calibri"/>
              </a:rPr>
              <a:t>e </a:t>
            </a:r>
            <a:r>
              <a:rPr b="0" lang="en-US" sz="4400" spc="-1" strike="noStrike">
                <a:solidFill>
                  <a:schemeClr val="dk1"/>
                </a:solidFill>
                <a:latin typeface="Calibri"/>
              </a:rPr>
              <a:t>tex</a:t>
            </a:r>
            <a:r>
              <a:rPr b="0" lang="en-US" sz="4400" spc="-1" strike="noStrike">
                <a:solidFill>
                  <a:schemeClr val="dk1"/>
                </a:solidFill>
                <a:latin typeface="Calibri"/>
              </a:rPr>
              <a:t>t </a:t>
            </a:r>
            <a:r>
              <a:rPr b="0" lang="en-US" sz="4400" spc="-1" strike="noStrike">
                <a:solidFill>
                  <a:schemeClr val="dk1"/>
                </a:solidFill>
                <a:latin typeface="Calibri"/>
              </a:rPr>
              <a:t>for</a:t>
            </a:r>
            <a:r>
              <a:rPr b="0" lang="en-US" sz="4400" spc="-1" strike="noStrike">
                <a:solidFill>
                  <a:schemeClr val="dk1"/>
                </a:solidFill>
                <a:latin typeface="Calibri"/>
              </a:rPr>
              <a:t>ma</a:t>
            </a:r>
            <a:r>
              <a:rPr b="0" lang="en-US" sz="4400" spc="-1" strike="noStrike">
                <a:solidFill>
                  <a:schemeClr val="dk1"/>
                </a:solidFill>
                <a:latin typeface="Calibri"/>
              </a:rPr>
              <a:t>t</a:t>
            </a:r>
            <a:endParaRPr b="0" lang="en-US" sz="4400" spc="-1" strike="noStrike">
              <a:solidFill>
                <a:schemeClr val="dk1"/>
              </a:solidFill>
              <a:latin typeface="Calibri"/>
            </a:endParaRPr>
          </a:p>
        </p:txBody>
      </p:sp>
      <p:sp>
        <p:nvSpPr>
          <p:cNvPr id="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 name="PlaceHolder 3"/>
          <p:cNvSpPr>
            <a:spLocks noGrp="1"/>
          </p:cNvSpPr>
          <p:nvPr>
            <p:ph type="ftr" idx="1"/>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11361960" y="6542280"/>
            <a:ext cx="216000" cy="153000"/>
          </a:xfrm>
          <a:prstGeom prst="rect">
            <a:avLst/>
          </a:prstGeom>
          <a:noFill/>
          <a:ln w="0">
            <a:noFill/>
          </a:ln>
        </p:spPr>
        <p:txBody>
          <a:bodyPr lIns="0" rIns="0" tIns="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0C328651-7BD1-4B65-BA4D-ABDA8DB53136}"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4" name="PlaceHolder 5"/>
          <p:cNvSpPr>
            <a:spLocks noGrp="1"/>
          </p:cNvSpPr>
          <p:nvPr>
            <p:ph type="dt" idx="3"/>
          </p:nvPr>
        </p:nvSpPr>
        <p:spPr>
          <a:xfrm>
            <a:off x="609480" y="6378120"/>
            <a:ext cx="2803320" cy="3423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9" name="PlaceHolder 3"/>
          <p:cNvSpPr>
            <a:spLocks noGrp="1"/>
          </p:cNvSpPr>
          <p:nvPr>
            <p:ph type="ftr" idx="4"/>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4"/>
          <p:cNvSpPr>
            <a:spLocks noGrp="1"/>
          </p:cNvSpPr>
          <p:nvPr>
            <p:ph type="sldNum" idx="5"/>
          </p:nvPr>
        </p:nvSpPr>
        <p:spPr>
          <a:xfrm>
            <a:off x="11361960" y="6542280"/>
            <a:ext cx="216000" cy="153000"/>
          </a:xfrm>
          <a:prstGeom prst="rect">
            <a:avLst/>
          </a:prstGeom>
          <a:noFill/>
          <a:ln w="0">
            <a:noFill/>
          </a:ln>
        </p:spPr>
        <p:txBody>
          <a:bodyPr lIns="0" rIns="0" tIns="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69E237CB-265A-4C1F-B4FB-8E58C3CC4AA5}"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11" name="PlaceHolder 5"/>
          <p:cNvSpPr>
            <a:spLocks noGrp="1"/>
          </p:cNvSpPr>
          <p:nvPr>
            <p:ph type="dt" idx="6"/>
          </p:nvPr>
        </p:nvSpPr>
        <p:spPr>
          <a:xfrm>
            <a:off x="609480" y="6378120"/>
            <a:ext cx="2803320" cy="3423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a:t>
            </a:r>
            <a:r>
              <a:rPr b="0" lang="en-US" sz="4400" spc="-1" strike="noStrike">
                <a:solidFill>
                  <a:schemeClr val="dk1"/>
                </a:solidFill>
                <a:latin typeface="Calibri"/>
              </a:rPr>
              <a:t>ck </a:t>
            </a:r>
            <a:r>
              <a:rPr b="0" lang="en-US" sz="4400" spc="-1" strike="noStrike">
                <a:solidFill>
                  <a:schemeClr val="dk1"/>
                </a:solidFill>
                <a:latin typeface="Calibri"/>
              </a:rPr>
              <a:t>to </a:t>
            </a:r>
            <a:r>
              <a:rPr b="0" lang="en-US" sz="4400" spc="-1" strike="noStrike">
                <a:solidFill>
                  <a:schemeClr val="dk1"/>
                </a:solidFill>
                <a:latin typeface="Calibri"/>
              </a:rPr>
              <a:t>ed</a:t>
            </a:r>
            <a:r>
              <a:rPr b="0" lang="en-US" sz="4400" spc="-1" strike="noStrike">
                <a:solidFill>
                  <a:schemeClr val="dk1"/>
                </a:solidFill>
                <a:latin typeface="Calibri"/>
              </a:rPr>
              <a:t>it </a:t>
            </a:r>
            <a:r>
              <a:rPr b="0" lang="en-US" sz="4400" spc="-1" strike="noStrike">
                <a:solidFill>
                  <a:schemeClr val="dk1"/>
                </a:solidFill>
                <a:latin typeface="Calibri"/>
              </a:rPr>
              <a:t>th</a:t>
            </a:r>
            <a:r>
              <a:rPr b="0" lang="en-US" sz="4400" spc="-1" strike="noStrike">
                <a:solidFill>
                  <a:schemeClr val="dk1"/>
                </a:solidFill>
                <a:latin typeface="Calibri"/>
              </a:rPr>
              <a:t>e </a:t>
            </a:r>
            <a:r>
              <a:rPr b="0" lang="en-US" sz="4400" spc="-1" strike="noStrike">
                <a:solidFill>
                  <a:schemeClr val="dk1"/>
                </a:solidFill>
                <a:latin typeface="Calibri"/>
              </a:rPr>
              <a:t>titl</a:t>
            </a:r>
            <a:r>
              <a:rPr b="0" lang="en-US" sz="4400" spc="-1" strike="noStrike">
                <a:solidFill>
                  <a:schemeClr val="dk1"/>
                </a:solidFill>
                <a:latin typeface="Calibri"/>
              </a:rPr>
              <a:t>e </a:t>
            </a:r>
            <a:r>
              <a:rPr b="0" lang="en-US" sz="4400" spc="-1" strike="noStrike">
                <a:solidFill>
                  <a:schemeClr val="dk1"/>
                </a:solidFill>
                <a:latin typeface="Calibri"/>
              </a:rPr>
              <a:t>te</a:t>
            </a:r>
            <a:r>
              <a:rPr b="0" lang="en-US" sz="4400" spc="-1" strike="noStrike">
                <a:solidFill>
                  <a:schemeClr val="dk1"/>
                </a:solidFill>
                <a:latin typeface="Calibri"/>
              </a:rPr>
              <a:t>xt </a:t>
            </a:r>
            <a:r>
              <a:rPr b="0" lang="en-US" sz="4400" spc="-1" strike="noStrike">
                <a:solidFill>
                  <a:schemeClr val="dk1"/>
                </a:solidFill>
                <a:latin typeface="Calibri"/>
              </a:rPr>
              <a:t>fo</a:t>
            </a:r>
            <a:r>
              <a:rPr b="0" lang="en-US" sz="4400" spc="-1" strike="noStrike">
                <a:solidFill>
                  <a:schemeClr val="dk1"/>
                </a:solidFill>
                <a:latin typeface="Calibri"/>
              </a:rPr>
              <a:t>r</a:t>
            </a:r>
            <a:r>
              <a:rPr b="0" lang="en-US" sz="4400" spc="-1" strike="noStrike">
                <a:solidFill>
                  <a:schemeClr val="dk1"/>
                </a:solidFill>
                <a:latin typeface="Calibri"/>
              </a:rPr>
              <a:t>m</a:t>
            </a:r>
            <a:r>
              <a:rPr b="0" lang="en-US" sz="4400" spc="-1" strike="noStrike">
                <a:solidFill>
                  <a:schemeClr val="dk1"/>
                </a:solidFill>
                <a:latin typeface="Calibri"/>
              </a:rPr>
              <a:t>at</a:t>
            </a:r>
            <a:endParaRPr b="0" lang="en-US" sz="4400" spc="-1" strike="noStrike">
              <a:solidFill>
                <a:schemeClr val="dk1"/>
              </a:solidFill>
              <a:latin typeface="Calibri"/>
            </a:endParaRPr>
          </a:p>
        </p:txBody>
      </p:sp>
      <p:sp>
        <p:nvSpPr>
          <p:cNvPr id="1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16" name="PlaceHolder 3"/>
          <p:cNvSpPr>
            <a:spLocks noGrp="1"/>
          </p:cNvSpPr>
          <p:nvPr>
            <p:ph type="ftr" idx="7"/>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4"/>
          <p:cNvSpPr>
            <a:spLocks noGrp="1"/>
          </p:cNvSpPr>
          <p:nvPr>
            <p:ph type="sldNum" idx="8"/>
          </p:nvPr>
        </p:nvSpPr>
        <p:spPr>
          <a:xfrm>
            <a:off x="11361960" y="6542280"/>
            <a:ext cx="216000" cy="153000"/>
          </a:xfrm>
          <a:prstGeom prst="rect">
            <a:avLst/>
          </a:prstGeom>
          <a:noFill/>
          <a:ln w="0">
            <a:noFill/>
          </a:ln>
        </p:spPr>
        <p:txBody>
          <a:bodyPr lIns="0" rIns="0" tIns="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7F9801E6-1B81-41FB-889F-A91859337A87}"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18" name="PlaceHolder 5"/>
          <p:cNvSpPr>
            <a:spLocks noGrp="1"/>
          </p:cNvSpPr>
          <p:nvPr>
            <p:ph type="dt" idx="9"/>
          </p:nvPr>
        </p:nvSpPr>
        <p:spPr>
          <a:xfrm>
            <a:off x="609480" y="6378120"/>
            <a:ext cx="2803320" cy="3423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3" name="PlaceHolder 3"/>
          <p:cNvSpPr>
            <a:spLocks noGrp="1"/>
          </p:cNvSpPr>
          <p:nvPr>
            <p:ph type="ftr" idx="10"/>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4"/>
          <p:cNvSpPr>
            <a:spLocks noGrp="1"/>
          </p:cNvSpPr>
          <p:nvPr>
            <p:ph type="sldNum" idx="11"/>
          </p:nvPr>
        </p:nvSpPr>
        <p:spPr>
          <a:xfrm>
            <a:off x="11361960" y="6542280"/>
            <a:ext cx="216000" cy="153000"/>
          </a:xfrm>
          <a:prstGeom prst="rect">
            <a:avLst/>
          </a:prstGeom>
          <a:noFill/>
          <a:ln w="0">
            <a:noFill/>
          </a:ln>
        </p:spPr>
        <p:txBody>
          <a:bodyPr lIns="0" rIns="0" tIns="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62D8F7CF-1A3F-43D5-82A8-296FE06CC5B8}"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25" name="PlaceHolder 5"/>
          <p:cNvSpPr>
            <a:spLocks noGrp="1"/>
          </p:cNvSpPr>
          <p:nvPr>
            <p:ph type="dt" idx="12"/>
          </p:nvPr>
        </p:nvSpPr>
        <p:spPr>
          <a:xfrm>
            <a:off x="609480" y="6378120"/>
            <a:ext cx="2803320" cy="3423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7440" y="331200"/>
            <a:ext cx="4587120" cy="114480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30" name="PlaceHolder 3"/>
          <p:cNvSpPr>
            <a:spLocks noGrp="1"/>
          </p:cNvSpPr>
          <p:nvPr>
            <p:ph type="ftr" idx="13"/>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 name="PlaceHolder 4"/>
          <p:cNvSpPr>
            <a:spLocks noGrp="1"/>
          </p:cNvSpPr>
          <p:nvPr>
            <p:ph type="sldNum" idx="14"/>
          </p:nvPr>
        </p:nvSpPr>
        <p:spPr>
          <a:xfrm>
            <a:off x="11361960" y="6542280"/>
            <a:ext cx="216000" cy="153000"/>
          </a:xfrm>
          <a:prstGeom prst="rect">
            <a:avLst/>
          </a:prstGeom>
          <a:noFill/>
          <a:ln w="0">
            <a:noFill/>
          </a:ln>
        </p:spPr>
        <p:txBody>
          <a:bodyPr lIns="0" rIns="0" tIns="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263276A8-4F1D-42C3-BAE0-B0C61F57F84B}"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32" name="PlaceHolder 5"/>
          <p:cNvSpPr>
            <a:spLocks noGrp="1"/>
          </p:cNvSpPr>
          <p:nvPr>
            <p:ph type="dt" idx="15"/>
          </p:nvPr>
        </p:nvSpPr>
        <p:spPr>
          <a:xfrm>
            <a:off x="609480" y="6378120"/>
            <a:ext cx="2803320" cy="3423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hyperlink" Target="https://drive.google.com/file/d/1rQn2_sPJxJJZU5iSfHLbjTBFN4dF1Ie9/view?usp=sharing" TargetMode="External"/><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hyperlink" Target="https://drive.google.com/file/d/1q_5iNdRIbu-k21mjsQKSWwZary8sCsXM/view?usp=sharing" TargetMode="External"/><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hyperlink" Target="https://drive.google.com/file/d/1ElH9F8i-hpev152cJ8dixxOZTOmPo-g4/view?usp=sharing" TargetMode="External"/><Relationship Id="rId2" Type="http://schemas.openxmlformats.org/officeDocument/2006/relationships/hyperlink" Target="https://drive.google.com/file/d/1PNKT3N7sfsIWm2D502OYOrWc512nG6hM/view?usp=sharing" TargetMode="External"/><Relationship Id="rId3" Type="http://schemas.openxmlformats.org/officeDocument/2006/relationships/hyperlink" Target="https://drive.google.com/file/d/1YIoSttvlxBVyGkJZ43IU7je_AHdpsWqJ/view?usp=sharing" TargetMode="External"/><Relationship Id="rId4" Type="http://schemas.openxmlformats.org/officeDocument/2006/relationships/hyperlink" Target="https://drive.google.com/file/d/19ZZEWAa5J3CVjTLJA446dHaouTaU4lcD/view?usp=sharing" TargetMode="External"/><Relationship Id="rId5" Type="http://schemas.openxmlformats.org/officeDocument/2006/relationships/hyperlink" Target="https://drive.google.com/file/d/1W3orVTCYeRtVmUt6zqh-qoGHKQJAI1aG/view?usp=sharing" TargetMode="External"/><Relationship Id="rId6" Type="http://schemas.openxmlformats.org/officeDocument/2006/relationships/hyperlink" Target="https://drive.google.com/file/d/1H9VEv5AxA_Iq0TGFOq5Q9D2H6yHxs2-F/view?usp=sharing" TargetMode="External"/><Relationship Id="rId7" Type="http://schemas.openxmlformats.org/officeDocument/2006/relationships/hyperlink" Target="https://drive.google.com/file/d/1Wiu8QdgxOG-YEHf1spgiLeiLIqO7yWQW/view?usp=sharing" TargetMode="External"/><Relationship Id="rId8"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hyperlink" Target="https://drive.google.com/file/d/1T3LLP3G-CXizTPHF1th58YXZUEPMm1XB/view?usp=sharing" TargetMode="External"/><Relationship Id="rId2" Type="http://schemas.openxmlformats.org/officeDocument/2006/relationships/hyperlink" Target="https://drive.google.com/file/d/157KIzmIcecIUeyY-IpR0i06mO6qScgOJ/view?usp=sharing" TargetMode="External"/><Relationship Id="rId3" Type="http://schemas.openxmlformats.org/officeDocument/2006/relationships/hyperlink" Target="https://drive.google.com/file/d/17qSJOvG5Zh2kVqczhrmxUrGjjMQKqgdz/view?usp=sharing" TargetMode="External"/><Relationship Id="rId4" Type="http://schemas.openxmlformats.org/officeDocument/2006/relationships/hyperlink" Target="https://drive.google.com/file/d/1UGZl7JFb1fwkestMWPNDX-Yg8vtDD-lO/view?usp=sharing" TargetMode="External"/><Relationship Id="rId5" Type="http://schemas.openxmlformats.org/officeDocument/2006/relationships/hyperlink" Target="https://drive.google.com/file/d/15oLscXjqyHnNa-etYakfqnY2oz0U4-4G/view?usp=sharing" TargetMode="External"/><Relationship Id="rId6"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5" name="object 2"/>
          <p:cNvSpPr/>
          <p:nvPr/>
        </p:nvSpPr>
        <p:spPr>
          <a:xfrm>
            <a:off x="0" y="0"/>
            <a:ext cx="12191400" cy="164520"/>
          </a:xfrm>
          <a:custGeom>
            <a:avLst/>
            <a:gdLst>
              <a:gd name="textAreaLeft" fmla="*/ 0 w 12191400"/>
              <a:gd name="textAreaRight" fmla="*/ 12192120 w 12191400"/>
              <a:gd name="textAreaTop" fmla="*/ 0 h 164520"/>
              <a:gd name="textAreaBottom" fmla="*/ 165240 h 164520"/>
            </a:gdLst>
            <a:ahLst/>
            <a:rect l="textAreaLeft" t="textAreaTop" r="textAreaRight" b="textAreaBottom"/>
            <a:pathLst>
              <a:path w="12192000" h="165100">
                <a:moveTo>
                  <a:pt x="12191694" y="164591"/>
                </a:moveTo>
                <a:lnTo>
                  <a:pt x="0" y="164591"/>
                </a:lnTo>
                <a:lnTo>
                  <a:pt x="0" y="0"/>
                </a:lnTo>
                <a:lnTo>
                  <a:pt x="12191694" y="0"/>
                </a:lnTo>
                <a:lnTo>
                  <a:pt x="12191694" y="164591"/>
                </a:lnTo>
                <a:close/>
              </a:path>
            </a:pathLst>
          </a:custGeom>
          <a:solidFill>
            <a:srgbClr val="2f75b5"/>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ffffff"/>
              </a:solidFill>
              <a:latin typeface="Arial"/>
            </a:endParaRPr>
          </a:p>
        </p:txBody>
      </p:sp>
      <p:sp>
        <p:nvSpPr>
          <p:cNvPr id="36" name="PlaceHolder 1"/>
          <p:cNvSpPr>
            <a:spLocks noGrp="1"/>
          </p:cNvSpPr>
          <p:nvPr>
            <p:ph type="title"/>
          </p:nvPr>
        </p:nvSpPr>
        <p:spPr>
          <a:xfrm>
            <a:off x="667440" y="331200"/>
            <a:ext cx="10856520" cy="1411920"/>
          </a:xfrm>
          <a:prstGeom prst="rect">
            <a:avLst/>
          </a:prstGeom>
          <a:noFill/>
          <a:ln w="0">
            <a:noFill/>
          </a:ln>
        </p:spPr>
        <p:txBody>
          <a:bodyPr lIns="0" rIns="0" tIns="267120" bIns="0" anchor="t">
            <a:noAutofit/>
          </a:bodyPr>
          <a:p>
            <a:pPr marL="1139760" indent="0" defTabSz="914400">
              <a:lnSpc>
                <a:spcPct val="100000"/>
              </a:lnSpc>
              <a:spcBef>
                <a:spcPts val="99"/>
              </a:spcBef>
              <a:buNone/>
              <a:tabLst>
                <a:tab algn="l" pos="0"/>
              </a:tabLst>
            </a:pPr>
            <a:r>
              <a:rPr b="1" lang="en-US" sz="3200" spc="-21" strike="noStrike">
                <a:solidFill>
                  <a:srgbClr val="8861f3"/>
                </a:solidFill>
                <a:latin typeface="Arial"/>
              </a:rPr>
              <a:t>SOFTWARE</a:t>
            </a:r>
            <a:r>
              <a:rPr b="1" lang="en-US" sz="3200" spc="-177" strike="noStrike">
                <a:solidFill>
                  <a:srgbClr val="8861f3"/>
                </a:solidFill>
                <a:latin typeface="Arial"/>
              </a:rPr>
              <a:t> </a:t>
            </a:r>
            <a:r>
              <a:rPr b="1" lang="en-US" sz="3200" spc="-12" strike="noStrike">
                <a:solidFill>
                  <a:srgbClr val="8861f3"/>
                </a:solidFill>
                <a:latin typeface="Arial"/>
              </a:rPr>
              <a:t>REQUIREMENT</a:t>
            </a:r>
            <a:r>
              <a:rPr b="1" lang="en-US" sz="3200" spc="-171" strike="noStrike">
                <a:solidFill>
                  <a:srgbClr val="8861f3"/>
                </a:solidFill>
                <a:latin typeface="Arial"/>
              </a:rPr>
              <a:t> </a:t>
            </a:r>
            <a:r>
              <a:rPr b="1" lang="en-US" sz="3200" spc="-12" strike="noStrike">
                <a:solidFill>
                  <a:srgbClr val="8861f3"/>
                </a:solidFill>
                <a:latin typeface="Arial"/>
              </a:rPr>
              <a:t>SPECIFICATION</a:t>
            </a:r>
            <a:endParaRPr b="0" lang="en-US" sz="3200" spc="-1" strike="noStrike">
              <a:solidFill>
                <a:schemeClr val="dk1"/>
              </a:solidFill>
              <a:latin typeface="Calibri"/>
            </a:endParaRPr>
          </a:p>
        </p:txBody>
      </p:sp>
      <p:sp>
        <p:nvSpPr>
          <p:cNvPr id="37" name="object 4"/>
          <p:cNvSpPr/>
          <p:nvPr/>
        </p:nvSpPr>
        <p:spPr>
          <a:xfrm>
            <a:off x="2834640" y="1887840"/>
            <a:ext cx="6491520" cy="730800"/>
          </a:xfrm>
          <a:custGeom>
            <a:avLst/>
            <a:gdLst>
              <a:gd name="textAreaLeft" fmla="*/ 0 w 6491520"/>
              <a:gd name="textAreaRight" fmla="*/ 6492240 w 6491520"/>
              <a:gd name="textAreaTop" fmla="*/ 0 h 730800"/>
              <a:gd name="textAreaBottom" fmla="*/ 731520 h 730800"/>
            </a:gdLst>
            <a:ahLst/>
            <a:rect l="textAreaLeft" t="textAreaTop" r="textAreaRight" b="textAreaBottom"/>
            <a:pathLst>
              <a:path w="6492240" h="731519">
                <a:moveTo>
                  <a:pt x="0" y="121922"/>
                </a:moveTo>
                <a:lnTo>
                  <a:pt x="9581" y="74464"/>
                </a:lnTo>
                <a:lnTo>
                  <a:pt x="35710" y="35710"/>
                </a:lnTo>
                <a:lnTo>
                  <a:pt x="74464" y="9581"/>
                </a:lnTo>
                <a:lnTo>
                  <a:pt x="121922" y="0"/>
                </a:lnTo>
                <a:lnTo>
                  <a:pt x="6370317" y="0"/>
                </a:lnTo>
                <a:lnTo>
                  <a:pt x="6416975" y="9280"/>
                </a:lnTo>
                <a:lnTo>
                  <a:pt x="6456529" y="35710"/>
                </a:lnTo>
                <a:lnTo>
                  <a:pt x="6482959" y="75264"/>
                </a:lnTo>
                <a:lnTo>
                  <a:pt x="6492239" y="121922"/>
                </a:lnTo>
                <a:lnTo>
                  <a:pt x="6492239" y="609597"/>
                </a:lnTo>
                <a:lnTo>
                  <a:pt x="6482658" y="657055"/>
                </a:lnTo>
                <a:lnTo>
                  <a:pt x="6456529" y="695809"/>
                </a:lnTo>
                <a:lnTo>
                  <a:pt x="6417775" y="721938"/>
                </a:lnTo>
                <a:lnTo>
                  <a:pt x="6370317" y="731519"/>
                </a:lnTo>
                <a:lnTo>
                  <a:pt x="121922" y="731519"/>
                </a:lnTo>
                <a:lnTo>
                  <a:pt x="74464" y="721938"/>
                </a:lnTo>
                <a:lnTo>
                  <a:pt x="35710" y="695809"/>
                </a:lnTo>
                <a:lnTo>
                  <a:pt x="9581" y="657055"/>
                </a:lnTo>
                <a:lnTo>
                  <a:pt x="0" y="609597"/>
                </a:lnTo>
                <a:lnTo>
                  <a:pt x="0" y="121922"/>
                </a:lnTo>
                <a:close/>
              </a:path>
            </a:pathLst>
          </a:custGeom>
          <a:noFill/>
          <a:ln w="9524">
            <a:solidFill>
              <a:srgbClr val="8861f3"/>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38" name="object 5"/>
          <p:cNvSpPr/>
          <p:nvPr/>
        </p:nvSpPr>
        <p:spPr>
          <a:xfrm>
            <a:off x="3807720" y="1230120"/>
            <a:ext cx="4632120" cy="11667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400" spc="-1" strike="noStrike">
                <a:solidFill>
                  <a:srgbClr val="8861f3"/>
                </a:solidFill>
                <a:latin typeface="Arial"/>
              </a:rPr>
              <a:t>AND</a:t>
            </a:r>
            <a:r>
              <a:rPr b="1" lang="en-US" sz="2400" spc="-111" strike="noStrike">
                <a:solidFill>
                  <a:srgbClr val="8861f3"/>
                </a:solidFill>
                <a:latin typeface="Arial"/>
              </a:rPr>
              <a:t> </a:t>
            </a:r>
            <a:r>
              <a:rPr b="1" lang="en-US" sz="2400" spc="-1" strike="noStrike">
                <a:solidFill>
                  <a:srgbClr val="8861f3"/>
                </a:solidFill>
                <a:latin typeface="Arial"/>
              </a:rPr>
              <a:t>PROJECT</a:t>
            </a:r>
            <a:r>
              <a:rPr b="1" lang="en-US" sz="2400" spc="-111" strike="noStrike">
                <a:solidFill>
                  <a:srgbClr val="8861f3"/>
                </a:solidFill>
                <a:latin typeface="Arial"/>
              </a:rPr>
              <a:t> </a:t>
            </a:r>
            <a:r>
              <a:rPr b="1" lang="en-US" sz="2400" spc="-21" strike="noStrike">
                <a:solidFill>
                  <a:srgbClr val="8861f3"/>
                </a:solidFill>
                <a:latin typeface="Arial"/>
              </a:rPr>
              <a:t>PRESENTATION</a:t>
            </a:r>
            <a:endParaRPr b="0" lang="en-US" sz="2400" spc="-1" strike="noStrike">
              <a:solidFill>
                <a:srgbClr val="000000"/>
              </a:solidFill>
              <a:latin typeface="Arial"/>
            </a:endParaRPr>
          </a:p>
          <a:p>
            <a:pPr marL="12600" defTabSz="914400">
              <a:lnSpc>
                <a:spcPct val="100000"/>
              </a:lnSpc>
              <a:spcBef>
                <a:spcPts val="1165"/>
              </a:spcBef>
            </a:pPr>
            <a:endParaRPr b="0" lang="en-US" sz="2400" spc="-1" strike="noStrike">
              <a:solidFill>
                <a:srgbClr val="000000"/>
              </a:solidFill>
              <a:latin typeface="Arial"/>
            </a:endParaRPr>
          </a:p>
          <a:p>
            <a:pPr marL="12600" algn="ctr" defTabSz="914400">
              <a:lnSpc>
                <a:spcPct val="100000"/>
              </a:lnSpc>
              <a:spcBef>
                <a:spcPts val="6"/>
              </a:spcBef>
            </a:pPr>
            <a:r>
              <a:rPr b="1" lang="en-US" sz="1800" spc="-12" strike="noStrike">
                <a:solidFill>
                  <a:srgbClr val="17365d"/>
                </a:solidFill>
                <a:latin typeface="Arial"/>
              </a:rPr>
              <a:t>HELPING HANDS</a:t>
            </a:r>
            <a:endParaRPr b="0" lang="en-US" sz="1800" spc="-1" strike="noStrike">
              <a:solidFill>
                <a:srgbClr val="000000"/>
              </a:solidFill>
              <a:latin typeface="Arial"/>
            </a:endParaRPr>
          </a:p>
        </p:txBody>
      </p:sp>
      <p:sp>
        <p:nvSpPr>
          <p:cNvPr id="39" name="object 6"/>
          <p:cNvSpPr/>
          <p:nvPr/>
        </p:nvSpPr>
        <p:spPr>
          <a:xfrm>
            <a:off x="3197880" y="4219920"/>
            <a:ext cx="6549480" cy="221508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600" spc="-1" strike="noStrike">
                <a:solidFill>
                  <a:srgbClr val="202124"/>
                </a:solidFill>
                <a:latin typeface="Arial"/>
              </a:rPr>
              <a:t>Chimanbhai</a:t>
            </a:r>
            <a:r>
              <a:rPr b="1" lang="en-US" sz="1600" spc="-60" strike="noStrike">
                <a:solidFill>
                  <a:srgbClr val="202124"/>
                </a:solidFill>
                <a:latin typeface="Arial"/>
              </a:rPr>
              <a:t> </a:t>
            </a:r>
            <a:r>
              <a:rPr b="1" lang="en-US" sz="1600" spc="-1" strike="noStrike">
                <a:solidFill>
                  <a:srgbClr val="202124"/>
                </a:solidFill>
                <a:latin typeface="Arial"/>
              </a:rPr>
              <a:t>Patel</a:t>
            </a:r>
            <a:r>
              <a:rPr b="1" lang="en-US" sz="1600" spc="-60" strike="noStrike">
                <a:solidFill>
                  <a:srgbClr val="202124"/>
                </a:solidFill>
                <a:latin typeface="Arial"/>
              </a:rPr>
              <a:t> </a:t>
            </a:r>
            <a:r>
              <a:rPr b="1" lang="en-US" sz="1600" spc="-1" strike="noStrike">
                <a:solidFill>
                  <a:srgbClr val="202124"/>
                </a:solidFill>
                <a:latin typeface="Arial"/>
              </a:rPr>
              <a:t>Post</a:t>
            </a:r>
            <a:r>
              <a:rPr b="1" lang="en-US" sz="1600" spc="-55" strike="noStrike">
                <a:solidFill>
                  <a:srgbClr val="202124"/>
                </a:solidFill>
                <a:latin typeface="Arial"/>
              </a:rPr>
              <a:t> </a:t>
            </a:r>
            <a:r>
              <a:rPr b="1" lang="en-US" sz="1600" spc="-1" strike="noStrike">
                <a:solidFill>
                  <a:srgbClr val="202124"/>
                </a:solidFill>
                <a:latin typeface="Arial"/>
              </a:rPr>
              <a:t>Graduate</a:t>
            </a:r>
            <a:r>
              <a:rPr b="1" lang="en-US" sz="1600" spc="-60" strike="noStrike">
                <a:solidFill>
                  <a:srgbClr val="202124"/>
                </a:solidFill>
                <a:latin typeface="Arial"/>
              </a:rPr>
              <a:t> </a:t>
            </a:r>
            <a:r>
              <a:rPr b="1" lang="en-US" sz="1600" spc="-1" strike="noStrike">
                <a:solidFill>
                  <a:srgbClr val="202124"/>
                </a:solidFill>
                <a:latin typeface="Arial"/>
              </a:rPr>
              <a:t>Institute</a:t>
            </a:r>
            <a:r>
              <a:rPr b="1" lang="en-US" sz="1600" spc="-55" strike="noStrike">
                <a:solidFill>
                  <a:srgbClr val="202124"/>
                </a:solidFill>
                <a:latin typeface="Arial"/>
              </a:rPr>
              <a:t> </a:t>
            </a:r>
            <a:r>
              <a:rPr b="1" lang="en-US" sz="1600" spc="-1" strike="noStrike">
                <a:solidFill>
                  <a:srgbClr val="202124"/>
                </a:solidFill>
                <a:latin typeface="Arial"/>
              </a:rPr>
              <a:t>of</a:t>
            </a:r>
            <a:r>
              <a:rPr b="1" lang="en-US" sz="1600" spc="-60" strike="noStrike">
                <a:solidFill>
                  <a:srgbClr val="202124"/>
                </a:solidFill>
                <a:latin typeface="Arial"/>
              </a:rPr>
              <a:t> </a:t>
            </a:r>
            <a:r>
              <a:rPr b="1" lang="en-US" sz="1600" spc="-1" strike="noStrike">
                <a:solidFill>
                  <a:srgbClr val="202124"/>
                </a:solidFill>
                <a:latin typeface="Arial"/>
              </a:rPr>
              <a:t>Computer</a:t>
            </a:r>
            <a:r>
              <a:rPr b="1" lang="en-US" sz="1600" spc="-111" strike="noStrike">
                <a:solidFill>
                  <a:srgbClr val="202124"/>
                </a:solidFill>
                <a:latin typeface="Arial"/>
              </a:rPr>
              <a:t> </a:t>
            </a:r>
            <a:r>
              <a:rPr b="1" lang="en-US" sz="1600" spc="-12" strike="noStrike">
                <a:solidFill>
                  <a:srgbClr val="202124"/>
                </a:solidFill>
                <a:latin typeface="Arial"/>
              </a:rPr>
              <a:t>Applications</a:t>
            </a:r>
            <a:endParaRPr b="0" lang="en-US" sz="16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MCA</a:t>
            </a:r>
            <a:r>
              <a:rPr b="0" lang="en-US" sz="1300" spc="-92" strike="noStrike">
                <a:solidFill>
                  <a:srgbClr val="202124"/>
                </a:solidFill>
                <a:latin typeface="Arial MT"/>
              </a:rPr>
              <a:t> </a:t>
            </a:r>
            <a:r>
              <a:rPr b="0" lang="en-US" sz="1300" spc="-1" strike="noStrike">
                <a:solidFill>
                  <a:srgbClr val="202124"/>
                </a:solidFill>
                <a:latin typeface="Arial MT"/>
              </a:rPr>
              <a:t>Semester</a:t>
            </a:r>
            <a:r>
              <a:rPr b="0" lang="en-US" sz="1300" spc="-21" strike="noStrike">
                <a:solidFill>
                  <a:srgbClr val="202124"/>
                </a:solidFill>
                <a:latin typeface="Arial MT"/>
              </a:rPr>
              <a:t> </a:t>
            </a:r>
            <a:r>
              <a:rPr b="0" lang="en-US" sz="1300" spc="-1" strike="noStrike">
                <a:solidFill>
                  <a:srgbClr val="202124"/>
                </a:solidFill>
                <a:latin typeface="Arial MT"/>
              </a:rPr>
              <a:t>–</a:t>
            </a:r>
            <a:r>
              <a:rPr b="0" lang="en-US" sz="1300" spc="-21" strike="noStrike">
                <a:solidFill>
                  <a:srgbClr val="202124"/>
                </a:solidFill>
                <a:latin typeface="Arial MT"/>
              </a:rPr>
              <a:t> </a:t>
            </a:r>
            <a:r>
              <a:rPr b="0" lang="en-US" sz="1300" spc="-1" strike="noStrike">
                <a:solidFill>
                  <a:srgbClr val="202124"/>
                </a:solidFill>
                <a:latin typeface="Arial MT"/>
              </a:rPr>
              <a:t>3</a:t>
            </a:r>
            <a:r>
              <a:rPr b="0" lang="en-US" sz="1300" spc="-26" strike="noStrike">
                <a:solidFill>
                  <a:srgbClr val="202124"/>
                </a:solidFill>
                <a:latin typeface="Arial MT"/>
              </a:rPr>
              <a:t> </a:t>
            </a:r>
            <a:r>
              <a:rPr b="0" lang="en-US" sz="1300" spc="-12" strike="noStrike">
                <a:solidFill>
                  <a:srgbClr val="202124"/>
                </a:solidFill>
                <a:latin typeface="Arial MT"/>
              </a:rPr>
              <a:t>(2026–2027)</a:t>
            </a:r>
            <a:endParaRPr b="0" lang="en-US" sz="13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Faculty</a:t>
            </a:r>
            <a:r>
              <a:rPr b="0" lang="en-US" sz="1300" spc="-66" strike="noStrike">
                <a:solidFill>
                  <a:srgbClr val="202124"/>
                </a:solidFill>
                <a:latin typeface="Arial MT"/>
              </a:rPr>
              <a:t> </a:t>
            </a:r>
            <a:r>
              <a:rPr b="0" lang="en-US" sz="1300" spc="-1" strike="noStrike">
                <a:solidFill>
                  <a:srgbClr val="202124"/>
                </a:solidFill>
                <a:latin typeface="Arial MT"/>
              </a:rPr>
              <a:t>Guide:</a:t>
            </a:r>
            <a:r>
              <a:rPr b="0" lang="en-US" sz="1300" spc="-60" strike="noStrike">
                <a:solidFill>
                  <a:srgbClr val="202124"/>
                </a:solidFill>
                <a:latin typeface="Arial MT"/>
              </a:rPr>
              <a:t> </a:t>
            </a:r>
            <a:r>
              <a:rPr b="0" lang="en-US" sz="1300" spc="-12" strike="noStrike">
                <a:solidFill>
                  <a:srgbClr val="202124"/>
                </a:solidFill>
                <a:latin typeface="Arial MT"/>
              </a:rPr>
              <a:t>Dr./Prof.</a:t>
            </a:r>
            <a:r>
              <a:rPr b="0" lang="en-US" sz="1300" spc="-60" strike="noStrike">
                <a:solidFill>
                  <a:srgbClr val="202124"/>
                </a:solidFill>
                <a:latin typeface="Arial MT"/>
              </a:rPr>
              <a:t> </a:t>
            </a:r>
            <a:r>
              <a:rPr b="0" lang="en-US" sz="1300" spc="-12" strike="noStrike">
                <a:solidFill>
                  <a:srgbClr val="202124"/>
                </a:solidFill>
                <a:latin typeface="Arial MT"/>
              </a:rPr>
              <a:t>Unnati Parmar </a:t>
            </a:r>
            <a:endParaRPr b="0" lang="en-US" sz="13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PRESENTED</a:t>
            </a:r>
            <a:r>
              <a:rPr b="0" lang="en-US" sz="1300" spc="-46" strike="noStrike">
                <a:solidFill>
                  <a:srgbClr val="202124"/>
                </a:solidFill>
                <a:latin typeface="Arial MT"/>
              </a:rPr>
              <a:t> </a:t>
            </a:r>
            <a:r>
              <a:rPr b="0" lang="en-US" sz="1300" spc="-26" strike="noStrike">
                <a:solidFill>
                  <a:srgbClr val="202124"/>
                </a:solidFill>
                <a:latin typeface="Arial MT"/>
              </a:rPr>
              <a:t>BY:</a:t>
            </a:r>
            <a:endParaRPr b="0" lang="en-US" sz="13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Bhavya Solanki</a:t>
            </a:r>
            <a:r>
              <a:rPr b="0" lang="en-US" sz="1300" spc="-46" strike="noStrike">
                <a:solidFill>
                  <a:srgbClr val="202124"/>
                </a:solidFill>
                <a:latin typeface="Arial MT"/>
              </a:rPr>
              <a:t> </a:t>
            </a:r>
            <a:r>
              <a:rPr b="0" lang="en-US" sz="1300" spc="-1" strike="noStrike">
                <a:solidFill>
                  <a:srgbClr val="202124"/>
                </a:solidFill>
                <a:latin typeface="Arial MT"/>
              </a:rPr>
              <a:t>–</a:t>
            </a:r>
            <a:r>
              <a:rPr b="0" lang="en-US" sz="1300" spc="-52" strike="noStrike">
                <a:solidFill>
                  <a:srgbClr val="202124"/>
                </a:solidFill>
                <a:latin typeface="Arial MT"/>
              </a:rPr>
              <a:t> 25CI2110109</a:t>
            </a:r>
            <a:endParaRPr b="0" lang="en-US" sz="13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Yash Soni–</a:t>
            </a:r>
            <a:r>
              <a:rPr b="0" lang="en-US" sz="1300" spc="-52" strike="noStrike">
                <a:solidFill>
                  <a:srgbClr val="202124"/>
                </a:solidFill>
                <a:latin typeface="Arial MT"/>
              </a:rPr>
              <a:t> 25CI2110112</a:t>
            </a:r>
            <a:endParaRPr b="0" lang="en-US" sz="1300" spc="-1" strike="noStrike">
              <a:solidFill>
                <a:srgbClr val="000000"/>
              </a:solidFill>
              <a:latin typeface="Arial"/>
            </a:endParaRPr>
          </a:p>
          <a:p>
            <a:pPr marL="2520" algn="ctr" defTabSz="914400">
              <a:lnSpc>
                <a:spcPct val="100000"/>
              </a:lnSpc>
              <a:spcBef>
                <a:spcPts val="1009"/>
              </a:spcBef>
            </a:pPr>
            <a:r>
              <a:rPr b="0" lang="en-US" sz="1300" spc="-1" strike="noStrike">
                <a:solidFill>
                  <a:srgbClr val="202124"/>
                </a:solidFill>
                <a:latin typeface="Arial MT"/>
              </a:rPr>
              <a:t>Jay Vaghela–</a:t>
            </a:r>
            <a:r>
              <a:rPr b="0" lang="en-US" sz="1300" spc="-52" strike="noStrike">
                <a:solidFill>
                  <a:srgbClr val="202124"/>
                </a:solidFill>
                <a:latin typeface="Arial MT"/>
              </a:rPr>
              <a:t> 25CI2110125</a:t>
            </a:r>
            <a:endParaRPr b="0" lang="en-US" sz="1300" spc="-1" strike="noStrike">
              <a:solidFill>
                <a:srgbClr val="000000"/>
              </a:solidFill>
              <a:latin typeface="Arial"/>
            </a:endParaRPr>
          </a:p>
        </p:txBody>
      </p:sp>
      <p:pic>
        <p:nvPicPr>
          <p:cNvPr id="40" name="object 7" descr=""/>
          <p:cNvPicPr/>
          <p:nvPr/>
        </p:nvPicPr>
        <p:blipFill>
          <a:blip r:embed="rId1"/>
          <a:stretch/>
        </p:blipFill>
        <p:spPr>
          <a:xfrm>
            <a:off x="5031000" y="3398400"/>
            <a:ext cx="2156400" cy="708120"/>
          </a:xfrm>
          <a:prstGeom prst="rect">
            <a:avLst/>
          </a:prstGeom>
          <a:ln w="0">
            <a:noFill/>
          </a:ln>
        </p:spPr>
      </p:pic>
      <p:sp>
        <p:nvSpPr>
          <p:cNvPr id="41" name="object 8"/>
          <p:cNvSpPr/>
          <p:nvPr/>
        </p:nvSpPr>
        <p:spPr>
          <a:xfrm>
            <a:off x="5436360" y="2886480"/>
            <a:ext cx="1205280" cy="22572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1400" spc="-1" strike="noStrike">
                <a:solidFill>
                  <a:srgbClr val="000000"/>
                </a:solidFill>
                <a:latin typeface="Arial"/>
              </a:rPr>
              <a:t>Submitted</a:t>
            </a:r>
            <a:r>
              <a:rPr b="1" lang="en-US" sz="1400" spc="-46" strike="noStrike">
                <a:solidFill>
                  <a:srgbClr val="000000"/>
                </a:solidFill>
                <a:latin typeface="Arial"/>
              </a:rPr>
              <a:t> </a:t>
            </a:r>
            <a:r>
              <a:rPr b="1" lang="en-US" sz="1400" spc="-26" strike="noStrike">
                <a:solidFill>
                  <a:srgbClr val="000000"/>
                </a:solidFill>
                <a:latin typeface="Arial"/>
              </a:rPr>
              <a:t>To:</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Project</a:t>
            </a:r>
            <a:r>
              <a:rPr b="1" lang="en-US" sz="2800" spc="-100" strike="noStrike">
                <a:solidFill>
                  <a:srgbClr val="17365d"/>
                </a:solidFill>
                <a:latin typeface="Arial"/>
              </a:rPr>
              <a:t> </a:t>
            </a:r>
            <a:r>
              <a:rPr b="1" lang="en-US" sz="2800" spc="-12" strike="noStrike">
                <a:solidFill>
                  <a:srgbClr val="17365d"/>
                </a:solidFill>
                <a:latin typeface="Arial"/>
              </a:rPr>
              <a:t>Overview</a:t>
            </a:r>
            <a:endParaRPr b="0" lang="en-US" sz="2800" spc="-1" strike="noStrike">
              <a:solidFill>
                <a:schemeClr val="dk1"/>
              </a:solidFill>
              <a:latin typeface="Calibri"/>
            </a:endParaRPr>
          </a:p>
        </p:txBody>
      </p:sp>
      <p:sp>
        <p:nvSpPr>
          <p:cNvPr id="43" name="object 3"/>
          <p:cNvSpPr/>
          <p:nvPr/>
        </p:nvSpPr>
        <p:spPr>
          <a:xfrm>
            <a:off x="896040" y="1306080"/>
            <a:ext cx="10670400" cy="311220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0" lang="en-US" sz="2000" spc="-1" strike="noStrike">
                <a:solidFill>
                  <a:srgbClr val="202124"/>
                </a:solidFill>
                <a:latin typeface="Arial MT"/>
              </a:rPr>
              <a:t>Helping Hands is a web-based platform designed to connect volunteers, NGOs, and corporate organizations on a common platform for volunteering and Corporate Social Responsibility (CSR) activities.</a:t>
            </a:r>
            <a:endParaRPr b="0" lang="en-US" sz="2000" spc="-1" strike="noStrike">
              <a:solidFill>
                <a:srgbClr val="000000"/>
              </a:solidFill>
              <a:latin typeface="Arial"/>
            </a:endParaRPr>
          </a:p>
          <a:p>
            <a:pPr marL="12600" defTabSz="914400">
              <a:lnSpc>
                <a:spcPct val="100000"/>
              </a:lnSpc>
              <a:spcBef>
                <a:spcPts val="1400"/>
              </a:spcBef>
            </a:pPr>
            <a:r>
              <a:rPr b="0" lang="en-US" sz="2000" spc="-1" strike="noStrike">
                <a:solidFill>
                  <a:srgbClr val="202124"/>
                </a:solidFill>
                <a:latin typeface="Arial MT"/>
              </a:rPr>
              <a:t>The system provides a structured way for NGOs to publish volunteering opportunities, volunteers to discover and apply for activities, and corporate organizations to participate in or support social initiatives.</a:t>
            </a:r>
            <a:endParaRPr b="0" lang="en-US" sz="2000" spc="-1" strike="noStrike">
              <a:solidFill>
                <a:srgbClr val="000000"/>
              </a:solidFill>
              <a:latin typeface="Arial"/>
            </a:endParaRPr>
          </a:p>
          <a:p>
            <a:pPr marL="12600" defTabSz="914400">
              <a:lnSpc>
                <a:spcPct val="100000"/>
              </a:lnSpc>
              <a:spcBef>
                <a:spcPts val="1400"/>
              </a:spcBef>
            </a:pPr>
            <a:r>
              <a:rPr b="0" lang="en-US" sz="2000" spc="-1" strike="noStrike">
                <a:solidFill>
                  <a:srgbClr val="202124"/>
                </a:solidFill>
                <a:latin typeface="Arial MT"/>
              </a:rPr>
              <a:t>The CSR funding functionality in the current system is implemented as simulated transactions for demonstration purposes. No actual money is transferred through the platform.</a:t>
            </a:r>
            <a:endParaRPr b="0" lang="en-US" sz="2000" spc="-1" strike="noStrike">
              <a:solidFill>
                <a:srgbClr val="000000"/>
              </a:solidFill>
              <a:latin typeface="Arial"/>
            </a:endParaRPr>
          </a:p>
        </p:txBody>
      </p:sp>
      <p:sp>
        <p:nvSpPr>
          <p:cNvPr id="44"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45" name="object 5"/>
          <p:cNvSpPr/>
          <p:nvPr/>
        </p:nvSpPr>
        <p:spPr>
          <a:xfrm>
            <a:off x="11450880" y="6542280"/>
            <a:ext cx="88920" cy="138960"/>
          </a:xfrm>
          <a:prstGeom prst="rect">
            <a:avLst/>
          </a:prstGeom>
          <a:noFill/>
          <a:ln w="0">
            <a:noFill/>
          </a:ln>
        </p:spPr>
        <p:style>
          <a:lnRef idx="0"/>
          <a:fillRef idx="0"/>
          <a:effectRef idx="0"/>
          <a:fontRef idx="minor"/>
        </p:style>
        <p:txBody>
          <a:bodyPr lIns="0" rIns="0" tIns="1800" bIns="0" anchor="t">
            <a:spAutoFit/>
          </a:bodyPr>
          <a:p>
            <a:pPr marL="12600" defTabSz="914400">
              <a:lnSpc>
                <a:spcPct val="100000"/>
              </a:lnSpc>
              <a:spcBef>
                <a:spcPts val="14"/>
              </a:spcBef>
            </a:pPr>
            <a:r>
              <a:rPr b="0" lang="en-US" sz="900" spc="-52" strike="noStrike">
                <a:solidFill>
                  <a:srgbClr val="667085"/>
                </a:solidFill>
                <a:latin typeface="Arial MT"/>
              </a:rPr>
              <a:t>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6" name="object 2"/>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aphicFrame>
        <p:nvGraphicFramePr>
          <p:cNvPr id="47" name="object 3"/>
          <p:cNvGraphicFramePr/>
          <p:nvPr/>
        </p:nvGraphicFramePr>
        <p:xfrm>
          <a:off x="679320" y="1410840"/>
          <a:ext cx="10011960" cy="4246560"/>
        </p:xfrm>
        <a:graphic>
          <a:graphicData uri="http://schemas.openxmlformats.org/drawingml/2006/table">
            <a:tbl>
              <a:tblPr/>
              <a:tblGrid>
                <a:gridCol w="3868200"/>
                <a:gridCol w="6144120"/>
              </a:tblGrid>
              <a:tr h="707760">
                <a:tc>
                  <a:txBody>
                    <a:bodyPr anchor="t">
                      <a:noAutofit/>
                    </a:bodyPr>
                    <a:p>
                      <a:pPr algn="ctr" defTabSz="914400">
                        <a:lnSpc>
                          <a:spcPct val="100000"/>
                        </a:lnSpc>
                        <a:spcBef>
                          <a:spcPts val="1763"/>
                        </a:spcBef>
                      </a:pPr>
                      <a:r>
                        <a:rPr b="1" lang="en-US" sz="1600" spc="-12" strike="noStrike">
                          <a:solidFill>
                            <a:schemeClr val="dk1"/>
                          </a:solidFill>
                          <a:latin typeface="Times New Roman"/>
                        </a:rPr>
                        <a:t>Category</a:t>
                      </a:r>
                      <a:endParaRPr b="0" lang="en-US" sz="16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28080">
                      <a:solidFill>
                        <a:srgbClr val="712ed4"/>
                      </a:solidFill>
                      <a:prstDash val="solid"/>
                    </a:lnB>
                    <a:noFill/>
                  </a:tcPr>
                </a:tc>
                <a:tc>
                  <a:txBody>
                    <a:bodyPr anchor="t">
                      <a:noAutofit/>
                    </a:bodyPr>
                    <a:p>
                      <a:pPr algn="ctr" defTabSz="914400">
                        <a:lnSpc>
                          <a:spcPct val="100000"/>
                        </a:lnSpc>
                        <a:spcBef>
                          <a:spcPts val="1763"/>
                        </a:spcBef>
                      </a:pPr>
                      <a:r>
                        <a:rPr b="1" lang="en-US" sz="1600" spc="-21" strike="noStrike">
                          <a:solidFill>
                            <a:schemeClr val="dk1"/>
                          </a:solidFill>
                          <a:latin typeface="Times New Roman"/>
                        </a:rPr>
                        <a:t>Technology</a:t>
                      </a:r>
                      <a:r>
                        <a:rPr b="1" lang="en-US" sz="1600" spc="-26" strike="noStrike">
                          <a:solidFill>
                            <a:schemeClr val="dk1"/>
                          </a:solidFill>
                          <a:latin typeface="Times New Roman"/>
                        </a:rPr>
                        <a:t> </a:t>
                      </a:r>
                      <a:r>
                        <a:rPr b="1" lang="en-US" sz="1600" spc="-1" strike="noStrike">
                          <a:solidFill>
                            <a:schemeClr val="dk1"/>
                          </a:solidFill>
                          <a:latin typeface="Times New Roman"/>
                        </a:rPr>
                        <a:t>/</a:t>
                      </a:r>
                      <a:r>
                        <a:rPr b="1" lang="en-US" sz="1600" spc="-52" strike="noStrike">
                          <a:solidFill>
                            <a:schemeClr val="dk1"/>
                          </a:solidFill>
                          <a:latin typeface="Times New Roman"/>
                        </a:rPr>
                        <a:t> </a:t>
                      </a:r>
                      <a:r>
                        <a:rPr b="1" lang="en-US" sz="1600" spc="-35" strike="noStrike">
                          <a:solidFill>
                            <a:schemeClr val="dk1"/>
                          </a:solidFill>
                          <a:latin typeface="Times New Roman"/>
                        </a:rPr>
                        <a:t>Tool</a:t>
                      </a:r>
                      <a:r>
                        <a:rPr b="1" lang="en-US" sz="1600" spc="-26" strike="noStrike">
                          <a:solidFill>
                            <a:schemeClr val="dk1"/>
                          </a:solidFill>
                          <a:latin typeface="Times New Roman"/>
                        </a:rPr>
                        <a:t> </a:t>
                      </a:r>
                      <a:r>
                        <a:rPr b="1" lang="en-US" sz="1600" spc="-21" strike="noStrike">
                          <a:solidFill>
                            <a:schemeClr val="dk1"/>
                          </a:solidFill>
                          <a:latin typeface="Times New Roman"/>
                        </a:rPr>
                        <a:t>Used</a:t>
                      </a:r>
                      <a:endParaRPr b="0" lang="en-US" sz="16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28080">
                      <a:solidFill>
                        <a:srgbClr val="712ed4"/>
                      </a:solidFill>
                      <a:prstDash val="solid"/>
                    </a:lnB>
                    <a:noFill/>
                  </a:tcPr>
                </a:tc>
              </a:tr>
              <a:tr h="707760">
                <a:tc>
                  <a:txBody>
                    <a:bodyPr anchor="t">
                      <a:noAutofit/>
                    </a:bodyPr>
                    <a:p>
                      <a:pPr defTabSz="914400">
                        <a:lnSpc>
                          <a:spcPct val="100000"/>
                        </a:lnSpc>
                        <a:spcBef>
                          <a:spcPts val="281"/>
                        </a:spcBef>
                      </a:pPr>
                      <a:endParaRPr b="0" lang="en-US" sz="1400" spc="-1" strike="noStrike">
                        <a:solidFill>
                          <a:srgbClr val="000000"/>
                        </a:solidFill>
                        <a:latin typeface="Arial"/>
                      </a:endParaRPr>
                    </a:p>
                    <a:p>
                      <a:pPr algn="ctr" defTabSz="914400">
                        <a:lnSpc>
                          <a:spcPct val="100000"/>
                        </a:lnSpc>
                        <a:spcBef>
                          <a:spcPts val="6"/>
                        </a:spcBef>
                      </a:pPr>
                      <a:r>
                        <a:rPr b="0" lang="en-US" sz="1400" spc="-12" strike="noStrike">
                          <a:solidFill>
                            <a:schemeClr val="dk1"/>
                          </a:solidFill>
                          <a:latin typeface="Times New Roman"/>
                        </a:rPr>
                        <a:t>Frontend</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28080">
                      <a:solidFill>
                        <a:srgbClr val="712ed4"/>
                      </a:solidFill>
                      <a:prstDash val="solid"/>
                    </a:lnT>
                    <a:lnB w="12240">
                      <a:solidFill>
                        <a:srgbClr val="712ed4"/>
                      </a:solidFill>
                      <a:prstDash val="solid"/>
                    </a:lnB>
                    <a:solidFill>
                      <a:srgbClr val="c5aaee">
                        <a:alpha val="20000"/>
                      </a:srgbClr>
                    </a:solidFill>
                  </a:tcPr>
                </a:tc>
                <a:tc>
                  <a:txBody>
                    <a:bodyPr anchor="t">
                      <a:noAutofit/>
                    </a:bodyPr>
                    <a:p>
                      <a:pPr defTabSz="914400">
                        <a:lnSpc>
                          <a:spcPct val="100000"/>
                        </a:lnSpc>
                        <a:spcBef>
                          <a:spcPts val="281"/>
                        </a:spcBef>
                      </a:pPr>
                      <a:endParaRPr b="0" lang="en-US" sz="1400" spc="-1" strike="noStrike">
                        <a:solidFill>
                          <a:srgbClr val="000000"/>
                        </a:solidFill>
                        <a:latin typeface="Arial"/>
                      </a:endParaRPr>
                    </a:p>
                    <a:p>
                      <a:pPr marL="85680" defTabSz="914400">
                        <a:lnSpc>
                          <a:spcPct val="100000"/>
                        </a:lnSpc>
                        <a:spcBef>
                          <a:spcPts val="6"/>
                        </a:spcBef>
                      </a:pPr>
                      <a:r>
                        <a:rPr b="0" lang="en-US" sz="1400" spc="-12" strike="noStrike">
                          <a:solidFill>
                            <a:schemeClr val="dk1"/>
                          </a:solidFill>
                          <a:latin typeface="Times New Roman"/>
                        </a:rPr>
                        <a:t>React.js</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28080">
                      <a:solidFill>
                        <a:srgbClr val="712ed4"/>
                      </a:solidFill>
                      <a:prstDash val="solid"/>
                    </a:lnT>
                    <a:lnB w="12240">
                      <a:solidFill>
                        <a:srgbClr val="712ed4"/>
                      </a:solidFill>
                      <a:prstDash val="solid"/>
                    </a:lnB>
                    <a:solidFill>
                      <a:srgbClr val="c5aaee">
                        <a:alpha val="20000"/>
                      </a:srgbClr>
                    </a:solidFill>
                  </a:tcPr>
                </a:tc>
              </a:tr>
              <a:tr h="707760">
                <a:tc>
                  <a:txBody>
                    <a:bodyPr anchor="t">
                      <a:noAutofit/>
                    </a:bodyPr>
                    <a:p>
                      <a:pPr defTabSz="914400">
                        <a:lnSpc>
                          <a:spcPct val="100000"/>
                        </a:lnSpc>
                        <a:spcBef>
                          <a:spcPts val="281"/>
                        </a:spcBef>
                      </a:pPr>
                      <a:endParaRPr b="0" lang="en-US" sz="1400" spc="-1" strike="noStrike">
                        <a:solidFill>
                          <a:srgbClr val="000000"/>
                        </a:solidFill>
                        <a:latin typeface="Arial"/>
                      </a:endParaRPr>
                    </a:p>
                    <a:p>
                      <a:pPr algn="ctr" defTabSz="914400">
                        <a:lnSpc>
                          <a:spcPct val="100000"/>
                        </a:lnSpc>
                        <a:spcBef>
                          <a:spcPts val="6"/>
                        </a:spcBef>
                      </a:pPr>
                      <a:r>
                        <a:rPr b="1" lang="en-US" sz="1400" spc="-12" strike="noStrike">
                          <a:solidFill>
                            <a:srgbClr val="202124"/>
                          </a:solidFill>
                          <a:latin typeface="Times New Roman"/>
                        </a:rPr>
                        <a:t>Backend</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c>
                  <a:txBody>
                    <a:bodyPr anchor="t">
                      <a:noAutofit/>
                    </a:bodyPr>
                    <a:p>
                      <a:pPr defTabSz="914400">
                        <a:lnSpc>
                          <a:spcPct val="100000"/>
                        </a:lnSpc>
                        <a:spcBef>
                          <a:spcPts val="281"/>
                        </a:spcBef>
                      </a:pPr>
                      <a:endParaRPr b="0" lang="en-US" sz="1400" spc="-1" strike="noStrike">
                        <a:solidFill>
                          <a:srgbClr val="000000"/>
                        </a:solidFill>
                        <a:latin typeface="Arial"/>
                      </a:endParaRPr>
                    </a:p>
                    <a:p>
                      <a:pPr marL="85680" defTabSz="914400">
                        <a:lnSpc>
                          <a:spcPct val="100000"/>
                        </a:lnSpc>
                        <a:spcBef>
                          <a:spcPts val="6"/>
                        </a:spcBef>
                      </a:pPr>
                      <a:r>
                        <a:rPr b="0" lang="en-US" sz="1400" spc="-12" strike="noStrike">
                          <a:solidFill>
                            <a:srgbClr val="202124"/>
                          </a:solidFill>
                          <a:latin typeface="Times New Roman"/>
                        </a:rPr>
                        <a:t>Python</a:t>
                      </a:r>
                      <a:r>
                        <a:rPr b="0" lang="en-US" sz="1400" spc="-32" strike="noStrike">
                          <a:solidFill>
                            <a:srgbClr val="202124"/>
                          </a:solidFill>
                          <a:latin typeface="Times New Roman"/>
                        </a:rPr>
                        <a:t> </a:t>
                      </a:r>
                      <a:r>
                        <a:rPr b="0" lang="en-US" sz="1400" spc="-1" strike="noStrike">
                          <a:solidFill>
                            <a:srgbClr val="202124"/>
                          </a:solidFill>
                          <a:latin typeface="Times New Roman"/>
                        </a:rPr>
                        <a:t>/</a:t>
                      </a:r>
                      <a:r>
                        <a:rPr b="0" lang="en-US" sz="1400" spc="-32" strike="noStrike">
                          <a:solidFill>
                            <a:srgbClr val="202124"/>
                          </a:solidFill>
                          <a:latin typeface="Times New Roman"/>
                        </a:rPr>
                        <a:t> FastAPI</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r>
              <a:tr h="707760">
                <a:tc>
                  <a:txBody>
                    <a:bodyPr anchor="t">
                      <a:noAutofit/>
                    </a:bodyPr>
                    <a:p>
                      <a:pPr defTabSz="914400">
                        <a:lnSpc>
                          <a:spcPct val="100000"/>
                        </a:lnSpc>
                        <a:spcBef>
                          <a:spcPts val="281"/>
                        </a:spcBef>
                      </a:pPr>
                      <a:endParaRPr b="0" lang="en-US" sz="1400" spc="-1" strike="noStrike">
                        <a:solidFill>
                          <a:srgbClr val="000000"/>
                        </a:solidFill>
                        <a:latin typeface="Arial"/>
                      </a:endParaRPr>
                    </a:p>
                    <a:p>
                      <a:pPr algn="ctr" defTabSz="914400">
                        <a:lnSpc>
                          <a:spcPct val="100000"/>
                        </a:lnSpc>
                        <a:spcBef>
                          <a:spcPts val="6"/>
                        </a:spcBef>
                      </a:pPr>
                      <a:r>
                        <a:rPr b="0" lang="en-US" sz="1400" spc="-12" strike="noStrike">
                          <a:solidFill>
                            <a:schemeClr val="dk1"/>
                          </a:solidFill>
                          <a:latin typeface="Times New Roman"/>
                        </a:rPr>
                        <a:t>Database</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c>
                  <a:txBody>
                    <a:bodyPr anchor="t">
                      <a:noAutofit/>
                    </a:bodyPr>
                    <a:p>
                      <a:pPr defTabSz="914400">
                        <a:lnSpc>
                          <a:spcPct val="100000"/>
                        </a:lnSpc>
                        <a:spcBef>
                          <a:spcPts val="281"/>
                        </a:spcBef>
                      </a:pPr>
                      <a:endParaRPr b="0" lang="en-US" sz="1400" spc="-1" strike="noStrike">
                        <a:solidFill>
                          <a:srgbClr val="000000"/>
                        </a:solidFill>
                        <a:latin typeface="Arial"/>
                      </a:endParaRPr>
                    </a:p>
                    <a:p>
                      <a:pPr marL="85680" defTabSz="914400">
                        <a:lnSpc>
                          <a:spcPct val="100000"/>
                        </a:lnSpc>
                        <a:spcBef>
                          <a:spcPts val="6"/>
                        </a:spcBef>
                      </a:pPr>
                      <a:r>
                        <a:rPr b="0" lang="en-US" sz="1400" spc="-12" strike="noStrike">
                          <a:solidFill>
                            <a:schemeClr val="dk1"/>
                          </a:solidFill>
                          <a:latin typeface="Times New Roman"/>
                        </a:rPr>
                        <a:t>PostgreSQL</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r>
              <a:tr h="707760">
                <a:tc>
                  <a:txBody>
                    <a:bodyPr anchor="t">
                      <a:noAutofit/>
                    </a:bodyPr>
                    <a:p>
                      <a:pPr defTabSz="914400">
                        <a:lnSpc>
                          <a:spcPct val="100000"/>
                        </a:lnSpc>
                        <a:spcBef>
                          <a:spcPts val="281"/>
                        </a:spcBef>
                      </a:pPr>
                      <a:endParaRPr b="0" lang="en-US" sz="1400" spc="-1" strike="noStrike">
                        <a:solidFill>
                          <a:srgbClr val="000000"/>
                        </a:solidFill>
                        <a:latin typeface="Arial"/>
                      </a:endParaRPr>
                    </a:p>
                    <a:p>
                      <a:pPr algn="ctr" defTabSz="914400">
                        <a:lnSpc>
                          <a:spcPct val="100000"/>
                        </a:lnSpc>
                        <a:spcBef>
                          <a:spcPts val="6"/>
                        </a:spcBef>
                      </a:pPr>
                      <a:r>
                        <a:rPr b="0" lang="en-US" sz="1400" spc="-12" strike="noStrike">
                          <a:solidFill>
                            <a:schemeClr val="dk1"/>
                          </a:solidFill>
                          <a:latin typeface="Times New Roman"/>
                        </a:rPr>
                        <a:t>Frameworks</a:t>
                      </a:r>
                      <a:r>
                        <a:rPr b="0" lang="en-US" sz="1400" spc="-15" strike="noStrike">
                          <a:solidFill>
                            <a:schemeClr val="dk1"/>
                          </a:solidFill>
                          <a:latin typeface="Times New Roman"/>
                        </a:rPr>
                        <a:t> </a:t>
                      </a:r>
                      <a:r>
                        <a:rPr b="0" lang="en-US" sz="1400" spc="-1" strike="noStrike">
                          <a:solidFill>
                            <a:schemeClr val="dk1"/>
                          </a:solidFill>
                          <a:latin typeface="Times New Roman"/>
                        </a:rPr>
                        <a:t>/</a:t>
                      </a:r>
                      <a:r>
                        <a:rPr b="0" lang="en-US" sz="1400" spc="-86" strike="noStrike">
                          <a:solidFill>
                            <a:schemeClr val="dk1"/>
                          </a:solidFill>
                          <a:latin typeface="Times New Roman"/>
                        </a:rPr>
                        <a:t> </a:t>
                      </a:r>
                      <a:r>
                        <a:rPr b="0" lang="en-US" sz="1400" spc="-1" strike="noStrike">
                          <a:solidFill>
                            <a:schemeClr val="dk1"/>
                          </a:solidFill>
                          <a:latin typeface="Times New Roman"/>
                        </a:rPr>
                        <a:t>APIs</a:t>
                      </a:r>
                      <a:r>
                        <a:rPr b="0" lang="en-US" sz="1400" spc="-15" strike="noStrike">
                          <a:solidFill>
                            <a:schemeClr val="dk1"/>
                          </a:solidFill>
                          <a:latin typeface="Times New Roman"/>
                        </a:rPr>
                        <a:t> </a:t>
                      </a:r>
                      <a:r>
                        <a:rPr b="0" lang="en-US" sz="1400" spc="-1" strike="noStrike">
                          <a:solidFill>
                            <a:schemeClr val="dk1"/>
                          </a:solidFill>
                          <a:latin typeface="Times New Roman"/>
                        </a:rPr>
                        <a:t>/</a:t>
                      </a:r>
                      <a:r>
                        <a:rPr b="0" lang="en-US" sz="1400" spc="-35" strike="noStrike">
                          <a:solidFill>
                            <a:schemeClr val="dk1"/>
                          </a:solidFill>
                          <a:latin typeface="Times New Roman"/>
                        </a:rPr>
                        <a:t> </a:t>
                      </a:r>
                      <a:r>
                        <a:rPr b="0" lang="en-US" sz="1400" spc="-12" strike="noStrike">
                          <a:solidFill>
                            <a:schemeClr val="dk1"/>
                          </a:solidFill>
                          <a:latin typeface="Times New Roman"/>
                        </a:rPr>
                        <a:t>Tools</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c>
                  <a:txBody>
                    <a:bodyPr anchor="t">
                      <a:noAutofit/>
                    </a:bodyPr>
                    <a:p>
                      <a:pPr defTabSz="914400">
                        <a:lnSpc>
                          <a:spcPct val="100000"/>
                        </a:lnSpc>
                        <a:spcBef>
                          <a:spcPts val="281"/>
                        </a:spcBef>
                      </a:pPr>
                      <a:endParaRPr b="0" lang="en-US" sz="1400" spc="-1" strike="noStrike">
                        <a:solidFill>
                          <a:srgbClr val="000000"/>
                        </a:solidFill>
                        <a:latin typeface="Arial"/>
                      </a:endParaRPr>
                    </a:p>
                    <a:p>
                      <a:pPr marL="85680" defTabSz="914400">
                        <a:lnSpc>
                          <a:spcPct val="100000"/>
                        </a:lnSpc>
                        <a:spcBef>
                          <a:spcPts val="6"/>
                        </a:spcBef>
                      </a:pPr>
                      <a:r>
                        <a:rPr b="0" lang="en-US" sz="1400" spc="-1" strike="noStrike">
                          <a:solidFill>
                            <a:srgbClr val="202124"/>
                          </a:solidFill>
                          <a:latin typeface="Times New Roman"/>
                        </a:rPr>
                        <a:t>Pydantic,</a:t>
                      </a:r>
                      <a:r>
                        <a:rPr b="0" lang="en-US" sz="1400" spc="-80" strike="noStrike">
                          <a:solidFill>
                            <a:srgbClr val="202124"/>
                          </a:solidFill>
                          <a:latin typeface="Times New Roman"/>
                        </a:rPr>
                        <a:t> RESTApi</a:t>
                      </a:r>
                      <a:r>
                        <a:rPr b="0" lang="en-US" sz="1400" spc="-1" strike="noStrike">
                          <a:solidFill>
                            <a:srgbClr val="202124"/>
                          </a:solidFill>
                          <a:latin typeface="Times New Roman"/>
                        </a:rPr>
                        <a:t>, bcrypt</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r>
              <a:tr h="707760">
                <a:tc>
                  <a:txBody>
                    <a:bodyPr anchor="t">
                      <a:noAutofit/>
                    </a:bodyPr>
                    <a:p>
                      <a:pPr defTabSz="914400">
                        <a:lnSpc>
                          <a:spcPct val="100000"/>
                        </a:lnSpc>
                        <a:spcBef>
                          <a:spcPts val="281"/>
                        </a:spcBef>
                      </a:pPr>
                      <a:endParaRPr b="0" lang="en-US" sz="1400" spc="-1" strike="noStrike">
                        <a:solidFill>
                          <a:srgbClr val="000000"/>
                        </a:solidFill>
                        <a:latin typeface="Arial"/>
                      </a:endParaRPr>
                    </a:p>
                    <a:p>
                      <a:pPr algn="ctr" defTabSz="914400">
                        <a:lnSpc>
                          <a:spcPct val="100000"/>
                        </a:lnSpc>
                        <a:spcBef>
                          <a:spcPts val="6"/>
                        </a:spcBef>
                      </a:pPr>
                      <a:r>
                        <a:rPr b="0" lang="en-US" sz="1400" spc="-12" strike="noStrike">
                          <a:solidFill>
                            <a:schemeClr val="dk1"/>
                          </a:solidFill>
                          <a:latin typeface="Times New Roman"/>
                        </a:rPr>
                        <a:t>Development</a:t>
                      </a:r>
                      <a:r>
                        <a:rPr b="0" lang="en-US" sz="1400" spc="-26" strike="noStrike">
                          <a:solidFill>
                            <a:schemeClr val="dk1"/>
                          </a:solidFill>
                          <a:latin typeface="Times New Roman"/>
                        </a:rPr>
                        <a:t> </a:t>
                      </a:r>
                      <a:r>
                        <a:rPr b="0" lang="en-US" sz="1400" spc="-12" strike="noStrike">
                          <a:solidFill>
                            <a:schemeClr val="dk1"/>
                          </a:solidFill>
                          <a:latin typeface="Times New Roman"/>
                        </a:rPr>
                        <a:t>Environment</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c>
                  <a:txBody>
                    <a:bodyPr anchor="t">
                      <a:noAutofit/>
                    </a:bodyPr>
                    <a:p>
                      <a:pPr defTabSz="914400">
                        <a:lnSpc>
                          <a:spcPct val="100000"/>
                        </a:lnSpc>
                        <a:spcBef>
                          <a:spcPts val="281"/>
                        </a:spcBef>
                      </a:pPr>
                      <a:endParaRPr b="0" lang="en-US" sz="1400" spc="-1" strike="noStrike">
                        <a:solidFill>
                          <a:srgbClr val="000000"/>
                        </a:solidFill>
                        <a:latin typeface="Arial"/>
                      </a:endParaRPr>
                    </a:p>
                    <a:p>
                      <a:pPr marL="85680" defTabSz="914400">
                        <a:lnSpc>
                          <a:spcPct val="100000"/>
                        </a:lnSpc>
                        <a:spcBef>
                          <a:spcPts val="6"/>
                        </a:spcBef>
                      </a:pPr>
                      <a:r>
                        <a:rPr b="0" lang="en-US" sz="1400" spc="-1" strike="noStrike">
                          <a:solidFill>
                            <a:schemeClr val="dk1"/>
                          </a:solidFill>
                          <a:latin typeface="Times New Roman"/>
                        </a:rPr>
                        <a:t>VS Code</a:t>
                      </a:r>
                      <a:r>
                        <a:rPr b="0" lang="en-US" sz="1400" spc="-26" strike="noStrike">
                          <a:solidFill>
                            <a:schemeClr val="dk1"/>
                          </a:solidFill>
                          <a:latin typeface="Times New Roman"/>
                        </a:rPr>
                        <a:t> </a:t>
                      </a:r>
                      <a:endParaRPr b="0" lang="en-US" sz="1400" spc="-1" strike="noStrike">
                        <a:solidFill>
                          <a:srgbClr val="000000"/>
                        </a:solidFill>
                        <a:latin typeface="Arial"/>
                      </a:endParaRPr>
                    </a:p>
                  </a:txBody>
                  <a:tcPr anchor="t" marL="91440" marR="91440">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r>
            </a:tbl>
          </a:graphicData>
        </a:graphic>
      </p:graphicFrame>
      <p:sp>
        <p:nvSpPr>
          <p:cNvPr id="48" name="object 5"/>
          <p:cNvSpPr/>
          <p:nvPr/>
        </p:nvSpPr>
        <p:spPr>
          <a:xfrm>
            <a:off x="11387160" y="6542280"/>
            <a:ext cx="152280" cy="138960"/>
          </a:xfrm>
          <a:prstGeom prst="rect">
            <a:avLst/>
          </a:prstGeom>
          <a:noFill/>
          <a:ln w="0">
            <a:noFill/>
          </a:ln>
        </p:spPr>
        <p:style>
          <a:lnRef idx="0"/>
          <a:fillRef idx="0"/>
          <a:effectRef idx="0"/>
          <a:fontRef idx="minor"/>
        </p:style>
        <p:txBody>
          <a:bodyPr lIns="0" rIns="0" tIns="1800" bIns="0" anchor="t">
            <a:spAutoFit/>
          </a:bodyPr>
          <a:p>
            <a:pPr marL="12600" defTabSz="914400">
              <a:lnSpc>
                <a:spcPct val="100000"/>
              </a:lnSpc>
              <a:spcBef>
                <a:spcPts val="14"/>
              </a:spcBef>
            </a:pPr>
            <a:r>
              <a:rPr b="0" lang="en-US" sz="900" spc="-26" strike="noStrike">
                <a:solidFill>
                  <a:srgbClr val="667085"/>
                </a:solidFill>
                <a:latin typeface="Arial MT"/>
              </a:rPr>
              <a:t>12</a:t>
            </a:r>
            <a:endParaRPr b="0" lang="en-US" sz="900" spc="-1" strike="noStrike">
              <a:solidFill>
                <a:srgbClr val="000000"/>
              </a:solidFill>
              <a:latin typeface="Arial"/>
            </a:endParaRPr>
          </a:p>
        </p:txBody>
      </p:sp>
      <p:sp>
        <p:nvSpPr>
          <p:cNvPr id="49" name="PlaceHolder 1"/>
          <p:cNvSpPr>
            <a:spLocks noGrp="1"/>
          </p:cNvSpPr>
          <p:nvPr>
            <p:ph type="title"/>
          </p:nvPr>
        </p:nvSpPr>
        <p:spPr>
          <a:xfrm>
            <a:off x="667440" y="331200"/>
            <a:ext cx="108565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32" strike="noStrike">
                <a:solidFill>
                  <a:srgbClr val="17365d"/>
                </a:solidFill>
                <a:latin typeface="Arial"/>
              </a:rPr>
              <a:t>Technology</a:t>
            </a:r>
            <a:r>
              <a:rPr b="1" lang="en-US" sz="2800" spc="-106" strike="noStrike">
                <a:solidFill>
                  <a:srgbClr val="17365d"/>
                </a:solidFill>
                <a:latin typeface="Arial"/>
              </a:rPr>
              <a:t> </a:t>
            </a:r>
            <a:r>
              <a:rPr b="1" lang="en-US" sz="2800" spc="-1" strike="noStrike">
                <a:solidFill>
                  <a:srgbClr val="17365d"/>
                </a:solidFill>
                <a:latin typeface="Arial"/>
              </a:rPr>
              <a:t>Stack</a:t>
            </a:r>
            <a:r>
              <a:rPr b="1" lang="en-US" sz="2800" spc="-106" strike="noStrike">
                <a:solidFill>
                  <a:srgbClr val="17365d"/>
                </a:solidFill>
                <a:latin typeface="Arial"/>
              </a:rPr>
              <a:t> </a:t>
            </a:r>
            <a:r>
              <a:rPr b="1" lang="en-US" sz="2800" spc="-1" strike="noStrike">
                <a:solidFill>
                  <a:srgbClr val="17365d"/>
                </a:solidFill>
                <a:latin typeface="Arial"/>
              </a:rPr>
              <a:t>&amp;</a:t>
            </a:r>
            <a:r>
              <a:rPr b="1" lang="en-US" sz="2800" spc="-106" strike="noStrike">
                <a:solidFill>
                  <a:srgbClr val="17365d"/>
                </a:solidFill>
                <a:latin typeface="Arial"/>
              </a:rPr>
              <a:t> </a:t>
            </a:r>
            <a:r>
              <a:rPr b="1" lang="en-US" sz="2800" spc="-1" strike="noStrike">
                <a:solidFill>
                  <a:srgbClr val="17365d"/>
                </a:solidFill>
                <a:latin typeface="Arial"/>
              </a:rPr>
              <a:t>Development</a:t>
            </a:r>
            <a:r>
              <a:rPr b="1" lang="en-US" sz="2800" spc="-106" strike="noStrike">
                <a:solidFill>
                  <a:srgbClr val="17365d"/>
                </a:solidFill>
                <a:latin typeface="Arial"/>
              </a:rPr>
              <a:t> </a:t>
            </a:r>
            <a:r>
              <a:rPr b="1" lang="en-US" sz="2800" spc="-12" strike="noStrike">
                <a:solidFill>
                  <a:srgbClr val="17365d"/>
                </a:solidFill>
                <a:latin typeface="Arial"/>
              </a:rPr>
              <a:t>Environment</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Problem</a:t>
            </a:r>
            <a:r>
              <a:rPr b="1" lang="en-US" sz="2800" spc="-72" strike="noStrike">
                <a:solidFill>
                  <a:srgbClr val="17365d"/>
                </a:solidFill>
                <a:latin typeface="Arial"/>
              </a:rPr>
              <a:t> </a:t>
            </a:r>
            <a:r>
              <a:rPr b="1" lang="en-US" sz="2800" spc="-1" strike="noStrike">
                <a:solidFill>
                  <a:srgbClr val="17365d"/>
                </a:solidFill>
                <a:latin typeface="Arial"/>
              </a:rPr>
              <a:t>Statement</a:t>
            </a:r>
            <a:r>
              <a:rPr b="1" lang="en-US" sz="2800" spc="-66" strike="noStrike">
                <a:solidFill>
                  <a:srgbClr val="17365d"/>
                </a:solidFill>
                <a:latin typeface="Arial"/>
              </a:rPr>
              <a:t> </a:t>
            </a:r>
            <a:r>
              <a:rPr b="1" lang="en-US" sz="2800" spc="-1" strike="noStrike">
                <a:solidFill>
                  <a:srgbClr val="17365d"/>
                </a:solidFill>
                <a:latin typeface="Arial"/>
              </a:rPr>
              <a:t>&amp;</a:t>
            </a:r>
            <a:r>
              <a:rPr b="1" lang="en-US" sz="2800" spc="-72" strike="noStrike">
                <a:solidFill>
                  <a:srgbClr val="17365d"/>
                </a:solidFill>
                <a:latin typeface="Arial"/>
              </a:rPr>
              <a:t> </a:t>
            </a:r>
            <a:r>
              <a:rPr b="1" lang="en-US" sz="2800" spc="-21" strike="noStrike">
                <a:solidFill>
                  <a:srgbClr val="17365d"/>
                </a:solidFill>
                <a:latin typeface="Arial"/>
              </a:rPr>
              <a:t>Need</a:t>
            </a:r>
            <a:endParaRPr b="0" lang="en-US" sz="2800" spc="-1" strike="noStrike">
              <a:solidFill>
                <a:schemeClr val="dk1"/>
              </a:solidFill>
              <a:latin typeface="Calibri"/>
            </a:endParaRPr>
          </a:p>
        </p:txBody>
      </p:sp>
      <p:sp>
        <p:nvSpPr>
          <p:cNvPr id="51" name="object 3"/>
          <p:cNvSpPr/>
          <p:nvPr/>
        </p:nvSpPr>
        <p:spPr>
          <a:xfrm>
            <a:off x="896040" y="1306080"/>
            <a:ext cx="5149440" cy="331308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2000" spc="-1" strike="noStrike">
                <a:solidFill>
                  <a:srgbClr val="17365d"/>
                </a:solidFill>
                <a:latin typeface="Arial MT"/>
              </a:rPr>
              <a:t>Problem Definition</a:t>
            </a:r>
            <a:endParaRPr b="0" lang="en-US" sz="20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Fake volunteer attendance.</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Unverified NGOs or organizations.</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Manual volunteer hour calculations.</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Poor transparency in CSR funding.</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Limited collaboration between volunteers, NGOs, and corporates.</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Lack of centralized volunteer history.</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800" spc="-1" strike="noStrike">
                <a:solidFill>
                  <a:srgbClr val="202124"/>
                </a:solidFill>
                <a:latin typeface="Arial MT"/>
              </a:rPr>
              <a:t>Absence of trust indicators for organizations.</a:t>
            </a:r>
            <a:endParaRPr b="0" lang="en-US" sz="1800" spc="-1" strike="noStrike">
              <a:solidFill>
                <a:srgbClr val="000000"/>
              </a:solidFill>
              <a:latin typeface="Arial"/>
            </a:endParaRPr>
          </a:p>
        </p:txBody>
      </p:sp>
      <p:sp>
        <p:nvSpPr>
          <p:cNvPr id="52" name="object 20"/>
          <p:cNvSpPr/>
          <p:nvPr/>
        </p:nvSpPr>
        <p:spPr>
          <a:xfrm>
            <a:off x="6415920" y="1306080"/>
            <a:ext cx="5149440" cy="45536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2000" spc="-1" strike="noStrike">
                <a:solidFill>
                  <a:srgbClr val="17365d"/>
                </a:solidFill>
                <a:latin typeface="Arial MT"/>
              </a:rPr>
              <a:t>Need for the New System</a:t>
            </a:r>
            <a:endParaRPr b="0" lang="en-US" sz="2000" spc="-1" strike="noStrike">
              <a:solidFill>
                <a:srgbClr val="000000"/>
              </a:solidFill>
              <a:latin typeface="Arial"/>
            </a:endParaRPr>
          </a:p>
          <a:p>
            <a:pPr marL="12600" defTabSz="914400">
              <a:lnSpc>
                <a:spcPct val="100000"/>
              </a:lnSpc>
            </a:pPr>
            <a:endParaRPr b="0" lang="en-US" sz="800" spc="-1" strike="noStrike">
              <a:solidFill>
                <a:srgbClr val="000000"/>
              </a:solidFill>
              <a:latin typeface="Arial"/>
            </a:endParaRPr>
          </a:p>
          <a:p>
            <a:pPr marL="298440" indent="-285840" defTabSz="914400">
              <a:lnSpc>
                <a:spcPct val="100000"/>
              </a:lnSpc>
              <a:buClr>
                <a:srgbClr val="000000"/>
              </a:buClr>
              <a:buFont typeface="Arial"/>
              <a:buChar char="•"/>
            </a:pPr>
            <a:r>
              <a:rPr b="0" lang="en-US" sz="1800" spc="-1" strike="noStrike">
                <a:solidFill>
                  <a:srgbClr val="000000"/>
                </a:solidFill>
                <a:latin typeface="Arial MT"/>
              </a:rPr>
              <a:t>Centralized Platform: Connects volunteers, NGOs, and corporate organizations in one system. </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marL="298440" indent="-285840" defTabSz="914400">
              <a:lnSpc>
                <a:spcPct val="100000"/>
              </a:lnSpc>
              <a:buClr>
                <a:srgbClr val="000000"/>
              </a:buClr>
              <a:buFont typeface="Arial"/>
              <a:buChar char="•"/>
            </a:pPr>
            <a:r>
              <a:rPr b="0" lang="en-US" sz="1800" spc="-1" strike="noStrike">
                <a:solidFill>
                  <a:srgbClr val="000000"/>
                </a:solidFill>
                <a:latin typeface="Arial MT"/>
              </a:rPr>
              <a:t>Verified Organizations: Ensures NGO and corporate details are verified.</a:t>
            </a:r>
            <a:endParaRPr b="0" lang="en-US" sz="1800" spc="-1" strike="noStrike">
              <a:solidFill>
                <a:srgbClr val="000000"/>
              </a:solidFill>
              <a:latin typeface="Arial"/>
            </a:endParaRPr>
          </a:p>
          <a:p>
            <a:pPr marL="12600" defTabSz="914400">
              <a:lnSpc>
                <a:spcPct val="100000"/>
              </a:lnSpc>
            </a:pPr>
            <a:endParaRPr b="0" lang="en-US" sz="1800" spc="-1" strike="noStrike">
              <a:solidFill>
                <a:srgbClr val="000000"/>
              </a:solidFill>
              <a:latin typeface="Arial"/>
            </a:endParaRPr>
          </a:p>
          <a:p>
            <a:pPr marL="298440" indent="-285840" defTabSz="914400">
              <a:lnSpc>
                <a:spcPct val="100000"/>
              </a:lnSpc>
              <a:buClr>
                <a:srgbClr val="000000"/>
              </a:buClr>
              <a:buFont typeface="Arial"/>
              <a:buChar char="•"/>
            </a:pPr>
            <a:r>
              <a:rPr b="0" lang="en-US" sz="1800" spc="-1" strike="noStrike">
                <a:solidFill>
                  <a:srgbClr val="000000"/>
                </a:solidFill>
                <a:latin typeface="Arial MT"/>
              </a:rPr>
              <a:t>GPS Attendance: Validates volunteer attendance using location.</a:t>
            </a:r>
            <a:endParaRPr b="0" lang="en-US" sz="1800" spc="-1" strike="noStrike">
              <a:solidFill>
                <a:srgbClr val="000000"/>
              </a:solidFill>
              <a:latin typeface="Arial"/>
            </a:endParaRPr>
          </a:p>
          <a:p>
            <a:pPr marL="12600" defTabSz="914400">
              <a:lnSpc>
                <a:spcPct val="100000"/>
              </a:lnSpc>
            </a:pPr>
            <a:endParaRPr b="0" lang="en-US" sz="1800" spc="-1" strike="noStrike">
              <a:solidFill>
                <a:srgbClr val="000000"/>
              </a:solidFill>
              <a:latin typeface="Arial"/>
            </a:endParaRPr>
          </a:p>
          <a:p>
            <a:pPr marL="298440" indent="-285840" defTabSz="914400">
              <a:lnSpc>
                <a:spcPct val="100000"/>
              </a:lnSpc>
              <a:buClr>
                <a:srgbClr val="000000"/>
              </a:buClr>
              <a:buFont typeface="Arial"/>
              <a:buChar char="•"/>
            </a:pPr>
            <a:r>
              <a:rPr b="0" lang="en-US" sz="1800" spc="-1" strike="noStrike">
                <a:solidFill>
                  <a:srgbClr val="000000"/>
                </a:solidFill>
                <a:latin typeface="Arial MT"/>
              </a:rPr>
              <a:t>Volunteer Tracking: Records participation and volunteering hours.</a:t>
            </a:r>
            <a:endParaRPr b="0" lang="en-US" sz="1800" spc="-1" strike="noStrike">
              <a:solidFill>
                <a:srgbClr val="000000"/>
              </a:solidFill>
              <a:latin typeface="Arial"/>
            </a:endParaRPr>
          </a:p>
          <a:p>
            <a:pPr marL="12600" defTabSz="914400">
              <a:lnSpc>
                <a:spcPct val="100000"/>
              </a:lnSpc>
            </a:pPr>
            <a:endParaRPr b="0" lang="en-US" sz="1800" spc="-1" strike="noStrike">
              <a:solidFill>
                <a:srgbClr val="000000"/>
              </a:solidFill>
              <a:latin typeface="Arial"/>
            </a:endParaRPr>
          </a:p>
          <a:p>
            <a:pPr marL="298440" indent="-285840" defTabSz="914400">
              <a:lnSpc>
                <a:spcPct val="100000"/>
              </a:lnSpc>
              <a:buClr>
                <a:srgbClr val="000000"/>
              </a:buClr>
              <a:buFont typeface="Arial"/>
              <a:buChar char="•"/>
            </a:pPr>
            <a:r>
              <a:rPr b="0" lang="en-US" sz="1800" spc="-1" strike="noStrike">
                <a:solidFill>
                  <a:srgbClr val="000000"/>
                </a:solidFill>
                <a:latin typeface="Arial MT"/>
              </a:rPr>
              <a:t>Integrated System: Combines volunteering and CSR activities on one platform</a:t>
            </a:r>
            <a:endParaRPr b="0" lang="en-US" sz="1800" spc="-1" strike="noStrike">
              <a:solidFill>
                <a:srgbClr val="000000"/>
              </a:solidFill>
              <a:latin typeface="Arial"/>
            </a:endParaRPr>
          </a:p>
        </p:txBody>
      </p:sp>
      <p:sp>
        <p:nvSpPr>
          <p:cNvPr id="53"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54" name="PlaceHolder 2"/>
          <p:cNvSpPr>
            <a:spLocks noGrp="1"/>
          </p:cNvSpPr>
          <p:nvPr>
            <p:ph type="sldNum" idx="16"/>
          </p:nvPr>
        </p:nvSpPr>
        <p:spPr>
          <a:xfrm>
            <a:off x="11361960" y="6542280"/>
            <a:ext cx="216000" cy="3979080"/>
          </a:xfrm>
          <a:prstGeom prst="rect">
            <a:avLst/>
          </a:prstGeom>
          <a:noFill/>
          <a:ln w="0">
            <a:noFill/>
          </a:ln>
        </p:spPr>
        <p:txBody>
          <a:bodyPr lIns="0" rIns="0" tIns="180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r>
              <a:rPr b="0" lang="en-US" sz="900" spc="-52" strike="noStrike">
                <a:solidFill>
                  <a:srgbClr val="667085"/>
                </a:solidFill>
                <a:latin typeface="Arial MT"/>
              </a:rPr>
              <a:t>3</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Objectives</a:t>
            </a:r>
            <a:r>
              <a:rPr b="1" lang="en-US" sz="2800" spc="-111" strike="noStrike">
                <a:solidFill>
                  <a:srgbClr val="17365d"/>
                </a:solidFill>
                <a:latin typeface="Arial"/>
              </a:rPr>
              <a:t> </a:t>
            </a:r>
            <a:r>
              <a:rPr b="1" lang="en-US" sz="2800" spc="-1" strike="noStrike">
                <a:solidFill>
                  <a:srgbClr val="17365d"/>
                </a:solidFill>
                <a:latin typeface="Arial"/>
              </a:rPr>
              <a:t>&amp;</a:t>
            </a:r>
            <a:r>
              <a:rPr b="1" lang="en-US" sz="2800" spc="-111" strike="noStrike">
                <a:solidFill>
                  <a:srgbClr val="17365d"/>
                </a:solidFill>
                <a:latin typeface="Arial"/>
              </a:rPr>
              <a:t> </a:t>
            </a:r>
            <a:r>
              <a:rPr b="1" lang="en-US" sz="2800" spc="-12" strike="noStrike">
                <a:solidFill>
                  <a:srgbClr val="17365d"/>
                </a:solidFill>
                <a:latin typeface="Arial"/>
              </a:rPr>
              <a:t>Scope</a:t>
            </a:r>
            <a:endParaRPr b="0" lang="en-US" sz="2800" spc="-1" strike="noStrike">
              <a:solidFill>
                <a:schemeClr val="dk1"/>
              </a:solidFill>
              <a:latin typeface="Calibri"/>
            </a:endParaRPr>
          </a:p>
        </p:txBody>
      </p:sp>
      <p:sp>
        <p:nvSpPr>
          <p:cNvPr id="56" name="object 3"/>
          <p:cNvSpPr/>
          <p:nvPr/>
        </p:nvSpPr>
        <p:spPr>
          <a:xfrm>
            <a:off x="896040" y="1306080"/>
            <a:ext cx="10670400" cy="414180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0" lang="en-US" sz="1800" spc="-1" strike="noStrike">
                <a:solidFill>
                  <a:srgbClr val="202124"/>
                </a:solidFill>
                <a:latin typeface="Arial MT"/>
              </a:rPr>
              <a:t>The scope of the Helping Hands system includes the following major functionalities:</a:t>
            </a:r>
            <a:endParaRPr b="0" lang="en-US" sz="18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Volunteer Management:</a:t>
            </a:r>
            <a:r>
              <a:rPr b="0" lang="en-US" sz="1600" spc="-1" strike="noStrike">
                <a:solidFill>
                  <a:srgbClr val="202124"/>
                </a:solidFill>
                <a:latin typeface="Arial MT"/>
              </a:rPr>
              <a:t> Volunteers can register, maintain their profiles, browse available volunteering opportunities, and apply for suitable activities.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NGO Management:</a:t>
            </a:r>
            <a:r>
              <a:rPr b="0" lang="en-US" sz="1600" spc="-1" strike="noStrike">
                <a:solidFill>
                  <a:srgbClr val="202124"/>
                </a:solidFill>
                <a:latin typeface="Arial MT"/>
              </a:rPr>
              <a:t> NGOs can register, provide organization details, create volunteering opportunities, and manage volunteer applications.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GPS-Based Attendance:</a:t>
            </a:r>
            <a:r>
              <a:rPr b="0" lang="en-US" sz="1600" spc="-1" strike="noStrike">
                <a:solidFill>
                  <a:srgbClr val="202124"/>
                </a:solidFill>
                <a:latin typeface="Arial MT"/>
              </a:rPr>
              <a:t> The system supports location-based check-in and check-out for volunteering activities and records participation time and volunteering hours.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Organization Verification:</a:t>
            </a:r>
            <a:r>
              <a:rPr b="0" lang="en-US" sz="1600" spc="-1" strike="noStrike">
                <a:solidFill>
                  <a:srgbClr val="202124"/>
                </a:solidFill>
                <a:latin typeface="Arial MT"/>
              </a:rPr>
              <a:t> NGO and corporate organization details can be reviewed and verified by platform operators.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CSR Support:</a:t>
            </a:r>
            <a:r>
              <a:rPr b="0" lang="en-US" sz="1600" spc="-1" strike="noStrike">
                <a:solidFill>
                  <a:srgbClr val="202124"/>
                </a:solidFill>
                <a:latin typeface="Arial MT"/>
              </a:rPr>
              <a:t> Corporate organizations can support NGOs and volunteering opportunities through simulated CSR funding or sponsorship transactions for demonstration purposes. No real money is transferred through the system.</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1" lang="en-US" sz="1600" spc="-1" strike="noStrike">
                <a:solidFill>
                  <a:srgbClr val="202124"/>
                </a:solidFill>
                <a:latin typeface="Arial MT"/>
              </a:rPr>
              <a:t>Platform Operator Panel:</a:t>
            </a:r>
            <a:r>
              <a:rPr b="0" lang="en-US" sz="1600" spc="-1" strike="noStrike">
                <a:solidFill>
                  <a:srgbClr val="202124"/>
                </a:solidFill>
                <a:latin typeface="Arial MT"/>
              </a:rPr>
              <a:t> A separate Platform Operator Panel is provided for the platform operators to perform platform-level operational and verification-related activities.</a:t>
            </a:r>
            <a:endParaRPr b="0" lang="en-US" sz="1600" spc="-1" strike="noStrike">
              <a:solidFill>
                <a:srgbClr val="000000"/>
              </a:solidFill>
              <a:latin typeface="Arial"/>
            </a:endParaRPr>
          </a:p>
        </p:txBody>
      </p:sp>
      <p:sp>
        <p:nvSpPr>
          <p:cNvPr id="57"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58" name="PlaceHolder 2"/>
          <p:cNvSpPr>
            <a:spLocks noGrp="1"/>
          </p:cNvSpPr>
          <p:nvPr>
            <p:ph type="sldNum" idx="17"/>
          </p:nvPr>
        </p:nvSpPr>
        <p:spPr>
          <a:xfrm>
            <a:off x="11361960" y="6542280"/>
            <a:ext cx="216000" cy="3979080"/>
          </a:xfrm>
          <a:prstGeom prst="rect">
            <a:avLst/>
          </a:prstGeom>
          <a:noFill/>
          <a:ln w="0">
            <a:noFill/>
          </a:ln>
        </p:spPr>
        <p:txBody>
          <a:bodyPr lIns="0" rIns="0" tIns="180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r>
              <a:rPr b="0" lang="en-US" sz="900" spc="-52" strike="noStrike">
                <a:solidFill>
                  <a:srgbClr val="667085"/>
                </a:solidFill>
                <a:latin typeface="Arial MT"/>
              </a:rPr>
              <a:t>4</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667440" y="331200"/>
            <a:ext cx="108565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Existin</a:t>
            </a:r>
            <a:r>
              <a:rPr b="1" lang="en-US" sz="2800" spc="-1" strike="noStrike">
                <a:solidFill>
                  <a:srgbClr val="17365d"/>
                </a:solidFill>
                <a:latin typeface="Arial"/>
              </a:rPr>
              <a:t>g</a:t>
            </a:r>
            <a:r>
              <a:rPr b="1" lang="en-US" sz="2800" spc="-126" strike="noStrike">
                <a:solidFill>
                  <a:srgbClr val="17365d"/>
                </a:solidFill>
                <a:latin typeface="Arial"/>
              </a:rPr>
              <a:t> </a:t>
            </a:r>
            <a:r>
              <a:rPr b="1" lang="en-US" sz="2800" spc="-1" strike="noStrike">
                <a:solidFill>
                  <a:srgbClr val="17365d"/>
                </a:solidFill>
                <a:latin typeface="Arial"/>
              </a:rPr>
              <a:t>System</a:t>
            </a:r>
            <a:r>
              <a:rPr b="1" lang="en-US" sz="2800" spc="-120" strike="noStrike">
                <a:solidFill>
                  <a:srgbClr val="17365d"/>
                </a:solidFill>
                <a:latin typeface="Arial"/>
              </a:rPr>
              <a:t> </a:t>
            </a:r>
            <a:r>
              <a:rPr b="1" lang="en-US" sz="2800" spc="-1" strike="noStrike">
                <a:solidFill>
                  <a:srgbClr val="17365d"/>
                </a:solidFill>
                <a:latin typeface="Arial"/>
              </a:rPr>
              <a:t>vs</a:t>
            </a:r>
            <a:r>
              <a:rPr b="1" lang="en-US" sz="2800" spc="-126" strike="noStrike">
                <a:solidFill>
                  <a:srgbClr val="17365d"/>
                </a:solidFill>
                <a:latin typeface="Arial"/>
              </a:rPr>
              <a:t> </a:t>
            </a:r>
            <a:r>
              <a:rPr b="1" lang="en-US" sz="2800" spc="-1" strike="noStrike">
                <a:solidFill>
                  <a:srgbClr val="17365d"/>
                </a:solidFill>
                <a:latin typeface="Arial"/>
              </a:rPr>
              <a:t>Propos</a:t>
            </a:r>
            <a:r>
              <a:rPr b="1" lang="en-US" sz="2800" spc="-1" strike="noStrike">
                <a:solidFill>
                  <a:srgbClr val="17365d"/>
                </a:solidFill>
                <a:latin typeface="Arial"/>
              </a:rPr>
              <a:t>ed</a:t>
            </a:r>
            <a:r>
              <a:rPr b="1" lang="en-US" sz="2800" spc="-120" strike="noStrike">
                <a:solidFill>
                  <a:srgbClr val="17365d"/>
                </a:solidFill>
                <a:latin typeface="Arial"/>
              </a:rPr>
              <a:t> </a:t>
            </a:r>
            <a:r>
              <a:rPr b="1" lang="en-US" sz="2800" spc="-12" strike="noStrike">
                <a:solidFill>
                  <a:srgbClr val="17365d"/>
                </a:solidFill>
                <a:latin typeface="Arial"/>
              </a:rPr>
              <a:t>System</a:t>
            </a:r>
            <a:endParaRPr b="0" lang="en-US" sz="2800" spc="-1" strike="noStrike">
              <a:solidFill>
                <a:schemeClr val="dk1"/>
              </a:solidFill>
              <a:latin typeface="Calibri"/>
            </a:endParaRPr>
          </a:p>
        </p:txBody>
      </p:sp>
      <p:sp>
        <p:nvSpPr>
          <p:cNvPr id="60" name="object 3"/>
          <p:cNvSpPr/>
          <p:nvPr/>
        </p:nvSpPr>
        <p:spPr>
          <a:xfrm>
            <a:off x="896040" y="1306080"/>
            <a:ext cx="5149440" cy="38289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2000" spc="-1" strike="noStrike">
                <a:solidFill>
                  <a:srgbClr val="17365d"/>
                </a:solidFill>
                <a:latin typeface="Arial MT"/>
              </a:rPr>
              <a:t>Existing System</a:t>
            </a:r>
            <a:endParaRPr b="0" lang="en-US" sz="20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Before platforms such as HelpingHands, volunteer coordination between individuals, NGOs, and corporate organizations happens through fragmented, manual channels — phone calls, WhatsApp groups, spreadsheets, and social media posts.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NGOs post volunteering opportunities without any centralized visibility or verification, and interested volunteers apply informally with no structured tracking of hours or participation.</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Attendance at volunteering events is typically self-reported or tracked on paper, leaving it open to inflation or outright fabrication.</a:t>
            </a:r>
            <a:endParaRPr b="0" lang="en-US" sz="1600" spc="-1" strike="noStrike">
              <a:solidFill>
                <a:srgbClr val="000000"/>
              </a:solidFill>
              <a:latin typeface="Arial"/>
            </a:endParaRPr>
          </a:p>
        </p:txBody>
      </p:sp>
      <p:sp>
        <p:nvSpPr>
          <p:cNvPr id="61" name="object 20"/>
          <p:cNvSpPr/>
          <p:nvPr/>
        </p:nvSpPr>
        <p:spPr>
          <a:xfrm>
            <a:off x="6415920" y="1306080"/>
            <a:ext cx="5149440" cy="34412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2000" spc="-1" strike="noStrike">
                <a:solidFill>
                  <a:srgbClr val="17365d"/>
                </a:solidFill>
                <a:latin typeface="Arial MT"/>
              </a:rPr>
              <a:t>Objective of the New System</a:t>
            </a:r>
            <a:endParaRPr b="0" lang="en-US" sz="20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Provide a centralized platform connecting Volunteers, NGOs, and Corporate Organizations.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Allow only verified NGOs and Corporate Organizations to access organizational features.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Prevent fake volunteer attendance using GPS-based location verification.</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Automatically calculate verified volunteer hours.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Generate participation certificates for eligible volunteers.</a:t>
            </a:r>
            <a:endParaRPr b="0" lang="en-US" sz="1600" spc="-1" strike="noStrike">
              <a:solidFill>
                <a:srgbClr val="000000"/>
              </a:solidFill>
              <a:latin typeface="Arial"/>
            </a:endParaRPr>
          </a:p>
          <a:p>
            <a:pPr marL="285840" indent="-285840" defTabSz="914400">
              <a:lnSpc>
                <a:spcPct val="100000"/>
              </a:lnSpc>
              <a:spcBef>
                <a:spcPts val="901"/>
              </a:spcBef>
              <a:buClr>
                <a:srgbClr val="202124"/>
              </a:buClr>
              <a:buFont typeface="Arial"/>
              <a:buChar char="•"/>
            </a:pPr>
            <a:r>
              <a:rPr b="0" lang="en-US" sz="1600" spc="-1" strike="noStrike">
                <a:solidFill>
                  <a:srgbClr val="202124"/>
                </a:solidFill>
                <a:latin typeface="Arial MT"/>
              </a:rPr>
              <a:t>Maintain transparent CSR participation records.</a:t>
            </a:r>
            <a:endParaRPr b="0" lang="en-US" sz="1600" spc="-1" strike="noStrike">
              <a:solidFill>
                <a:srgbClr val="000000"/>
              </a:solidFill>
              <a:latin typeface="Arial"/>
            </a:endParaRPr>
          </a:p>
        </p:txBody>
      </p:sp>
      <p:sp>
        <p:nvSpPr>
          <p:cNvPr id="62"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63" name="PlaceHolder 2"/>
          <p:cNvSpPr>
            <a:spLocks noGrp="1"/>
          </p:cNvSpPr>
          <p:nvPr>
            <p:ph type="sldNum" idx="18"/>
          </p:nvPr>
        </p:nvSpPr>
        <p:spPr>
          <a:xfrm>
            <a:off x="11361960" y="6542280"/>
            <a:ext cx="216000" cy="3979080"/>
          </a:xfrm>
          <a:prstGeom prst="rect">
            <a:avLst/>
          </a:prstGeom>
          <a:noFill/>
          <a:ln w="0">
            <a:noFill/>
          </a:ln>
        </p:spPr>
        <p:txBody>
          <a:bodyPr lIns="0" rIns="0" tIns="180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r>
              <a:rPr b="0" lang="en-US" sz="900" spc="-52" strike="noStrike">
                <a:solidFill>
                  <a:srgbClr val="667085"/>
                </a:solidFill>
                <a:latin typeface="Arial MT"/>
              </a:rPr>
              <a:t>5</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667440" y="331200"/>
            <a:ext cx="108565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2" strike="noStrike">
                <a:solidFill>
                  <a:srgbClr val="17365d"/>
                </a:solidFill>
                <a:latin typeface="Arial"/>
              </a:rPr>
              <a:t>Requir</a:t>
            </a:r>
            <a:r>
              <a:rPr b="1" lang="en-US" sz="2800" spc="-12" strike="noStrike">
                <a:solidFill>
                  <a:srgbClr val="17365d"/>
                </a:solidFill>
                <a:latin typeface="Arial"/>
              </a:rPr>
              <a:t>ements</a:t>
            </a:r>
            <a:endParaRPr b="0" lang="en-US" sz="2800" spc="-1" strike="noStrike">
              <a:solidFill>
                <a:schemeClr val="dk1"/>
              </a:solidFill>
              <a:latin typeface="Calibri"/>
            </a:endParaRPr>
          </a:p>
        </p:txBody>
      </p:sp>
      <p:sp>
        <p:nvSpPr>
          <p:cNvPr id="65" name="object 3"/>
          <p:cNvSpPr/>
          <p:nvPr/>
        </p:nvSpPr>
        <p:spPr>
          <a:xfrm>
            <a:off x="896040" y="1306080"/>
            <a:ext cx="10670400" cy="9500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700" spc="-1" strike="noStrike">
                <a:solidFill>
                  <a:srgbClr val="17365d"/>
                </a:solidFill>
                <a:latin typeface="Arial MT"/>
              </a:rPr>
              <a:t>Requirement Determination</a:t>
            </a:r>
            <a:endParaRPr b="0" lang="en-US" sz="1700" spc="-1" strike="noStrike">
              <a:solidFill>
                <a:srgbClr val="000000"/>
              </a:solidFill>
              <a:latin typeface="Arial"/>
            </a:endParaRPr>
          </a:p>
          <a:p>
            <a:pPr marL="12600" defTabSz="914400">
              <a:lnSpc>
                <a:spcPct val="100000"/>
              </a:lnSpc>
              <a:spcBef>
                <a:spcPts val="300"/>
              </a:spcBef>
            </a:pPr>
            <a:r>
              <a:rPr b="0" lang="en-US" sz="1400" spc="-1" strike="noStrike">
                <a:solidFill>
                  <a:srgbClr val="202124"/>
                </a:solidFill>
                <a:latin typeface="Arial MT"/>
              </a:rPr>
              <a:t>Requirement determination for HelpingHands involved studying how volunteering coordination and CSR collaboration are currently handled by NGOs, corporates, and individual volunteers, and identifying the functional gaps that such informal processes leave open — particularly around trust, verification, and attendance accuracy.</a:t>
            </a:r>
            <a:endParaRPr b="0" lang="en-US" sz="1400" spc="-1" strike="noStrike">
              <a:solidFill>
                <a:srgbClr val="000000"/>
              </a:solidFill>
              <a:latin typeface="Arial"/>
            </a:endParaRPr>
          </a:p>
        </p:txBody>
      </p:sp>
      <p:sp>
        <p:nvSpPr>
          <p:cNvPr id="66" name="object 20"/>
          <p:cNvSpPr/>
          <p:nvPr/>
        </p:nvSpPr>
        <p:spPr>
          <a:xfrm>
            <a:off x="896040" y="2706120"/>
            <a:ext cx="10670400" cy="2714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700" spc="-1" strike="noStrike">
                <a:solidFill>
                  <a:srgbClr val="17365d"/>
                </a:solidFill>
                <a:latin typeface="Arial MT"/>
              </a:rPr>
              <a:t>Targeted Users</a:t>
            </a:r>
            <a:endParaRPr b="0" lang="en-US" sz="1700" spc="-1" strike="noStrike">
              <a:solidFill>
                <a:srgbClr val="000000"/>
              </a:solidFill>
              <a:latin typeface="Arial"/>
            </a:endParaRPr>
          </a:p>
        </p:txBody>
      </p:sp>
      <p:sp>
        <p:nvSpPr>
          <p:cNvPr id="67" name="object 21"/>
          <p:cNvSpPr/>
          <p:nvPr/>
        </p:nvSpPr>
        <p:spPr>
          <a:xfrm>
            <a:off x="896040" y="3066120"/>
            <a:ext cx="5149440" cy="124740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500" spc="-1" strike="noStrike">
                <a:solidFill>
                  <a:srgbClr val="17365d"/>
                </a:solidFill>
                <a:latin typeface="Arial MT"/>
              </a:rPr>
              <a:t>Volunteer</a:t>
            </a:r>
            <a:endParaRPr b="0" lang="en-US" sz="15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Register and log in</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Browse open volunteering requirements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Apply to a requirement and track application status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Perform GPS check-in and check-out</a:t>
            </a:r>
            <a:endParaRPr b="0" lang="en-US" sz="1400" spc="-1" strike="noStrike">
              <a:solidFill>
                <a:srgbClr val="000000"/>
              </a:solidFill>
              <a:latin typeface="Arial"/>
            </a:endParaRPr>
          </a:p>
        </p:txBody>
      </p:sp>
      <p:sp>
        <p:nvSpPr>
          <p:cNvPr id="68" name="object 22"/>
          <p:cNvSpPr/>
          <p:nvPr/>
        </p:nvSpPr>
        <p:spPr>
          <a:xfrm>
            <a:off x="6415920" y="3066120"/>
            <a:ext cx="5149440" cy="146088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500" spc="-1" strike="noStrike">
                <a:solidFill>
                  <a:srgbClr val="17365d"/>
                </a:solidFill>
                <a:latin typeface="Arial MT"/>
              </a:rPr>
              <a:t>NGO</a:t>
            </a:r>
            <a:endParaRPr b="0" lang="en-US" sz="15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Register organization details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Post a volunteering requirement</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Review pending applicants and accept or reject each application</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Monitor attendance records</a:t>
            </a:r>
            <a:endParaRPr b="0" lang="en-US" sz="1400" spc="-1" strike="noStrike">
              <a:solidFill>
                <a:srgbClr val="000000"/>
              </a:solidFill>
              <a:latin typeface="Arial"/>
            </a:endParaRPr>
          </a:p>
        </p:txBody>
      </p:sp>
      <p:sp>
        <p:nvSpPr>
          <p:cNvPr id="69" name="object 23"/>
          <p:cNvSpPr/>
          <p:nvPr/>
        </p:nvSpPr>
        <p:spPr>
          <a:xfrm>
            <a:off x="896040" y="4665960"/>
            <a:ext cx="5149440" cy="9957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500" spc="-1" strike="noStrike">
                <a:solidFill>
                  <a:srgbClr val="17365d"/>
                </a:solidFill>
                <a:latin typeface="Arial MT"/>
              </a:rPr>
              <a:t>Company / Corporate</a:t>
            </a:r>
            <a:endParaRPr b="0" lang="en-US" sz="15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Register company details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Browse verified NGOs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Submit a CSR pledge</a:t>
            </a:r>
            <a:endParaRPr b="0" lang="en-US" sz="1400" spc="-1" strike="noStrike">
              <a:solidFill>
                <a:srgbClr val="000000"/>
              </a:solidFill>
              <a:latin typeface="Arial"/>
            </a:endParaRPr>
          </a:p>
        </p:txBody>
      </p:sp>
      <p:sp>
        <p:nvSpPr>
          <p:cNvPr id="70" name="object 24"/>
          <p:cNvSpPr/>
          <p:nvPr/>
        </p:nvSpPr>
        <p:spPr>
          <a:xfrm>
            <a:off x="6415920" y="4665960"/>
            <a:ext cx="5149440" cy="12092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pPr>
            <a:r>
              <a:rPr b="1" lang="en-US" sz="1500" spc="-1" strike="noStrike">
                <a:solidFill>
                  <a:srgbClr val="17365d"/>
                </a:solidFill>
                <a:latin typeface="Arial MT"/>
              </a:rPr>
              <a:t>Platform Operator</a:t>
            </a:r>
            <a:endParaRPr b="0" lang="en-US" sz="1500" spc="-1" strike="noStrike">
              <a:solidFill>
                <a:srgbClr val="000000"/>
              </a:solidFill>
              <a:latin typeface="Arial"/>
            </a:endParaRPr>
          </a:p>
          <a:p>
            <a:pPr marL="12600" defTabSz="914400">
              <a:lnSpc>
                <a:spcPct val="100000"/>
              </a:lnSpc>
              <a:spcBef>
                <a:spcPts val="300"/>
              </a:spcBef>
            </a:pPr>
            <a:r>
              <a:rPr b="0" lang="en-US" sz="1400" spc="-1" strike="noStrike">
                <a:solidFill>
                  <a:srgbClr val="202124"/>
                </a:solidFill>
                <a:latin typeface="Arial MT"/>
              </a:rPr>
              <a:t>The Platform Operator is not an application user and does not log into Helping Hands.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Review pending NGO and Corporate registrations.</a:t>
            </a:r>
            <a:endParaRPr b="0" lang="en-US" sz="1400" spc="-1" strike="noStrike">
              <a:solidFill>
                <a:srgbClr val="000000"/>
              </a:solidFill>
              <a:latin typeface="Arial"/>
            </a:endParaRPr>
          </a:p>
          <a:p>
            <a:pPr marL="285840" indent="-285840" defTabSz="914400">
              <a:lnSpc>
                <a:spcPct val="100000"/>
              </a:lnSpc>
              <a:spcBef>
                <a:spcPts val="300"/>
              </a:spcBef>
              <a:buClr>
                <a:srgbClr val="202124"/>
              </a:buClr>
              <a:buFont typeface="Arial"/>
              <a:buChar char="•"/>
            </a:pPr>
            <a:r>
              <a:rPr b="0" lang="en-US" sz="1400" spc="-1" strike="noStrike">
                <a:solidFill>
                  <a:srgbClr val="202124"/>
                </a:solidFill>
                <a:latin typeface="Arial MT"/>
              </a:rPr>
              <a:t>Approve, reject, or suspend an organization.</a:t>
            </a:r>
            <a:endParaRPr b="0" lang="en-US" sz="1400" spc="-1" strike="noStrike">
              <a:solidFill>
                <a:srgbClr val="000000"/>
              </a:solidFill>
              <a:latin typeface="Arial"/>
            </a:endParaRPr>
          </a:p>
        </p:txBody>
      </p:sp>
      <p:sp>
        <p:nvSpPr>
          <p:cNvPr id="71"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72" name="PlaceHolder 2"/>
          <p:cNvSpPr>
            <a:spLocks noGrp="1"/>
          </p:cNvSpPr>
          <p:nvPr>
            <p:ph type="sldNum" idx="19"/>
          </p:nvPr>
        </p:nvSpPr>
        <p:spPr>
          <a:xfrm>
            <a:off x="11361960" y="6542280"/>
            <a:ext cx="216000" cy="3979080"/>
          </a:xfrm>
          <a:prstGeom prst="rect">
            <a:avLst/>
          </a:prstGeom>
          <a:noFill/>
          <a:ln w="0">
            <a:noFill/>
          </a:ln>
        </p:spPr>
        <p:txBody>
          <a:bodyPr lIns="0" rIns="0" tIns="1800" bIns="0" anchor="t">
            <a:noAutofit/>
          </a:bodyPr>
          <a:lstStyle>
            <a:lvl1pPr marL="101520" indent="0" defTabSz="914400">
              <a:lnSpc>
                <a:spcPct val="100000"/>
              </a:lnSpc>
              <a:spcBef>
                <a:spcPts val="14"/>
              </a:spcBef>
              <a:buNone/>
              <a:tabLst>
                <a:tab algn="l" pos="0"/>
              </a:tabLst>
              <a:defRPr b="0" lang="en-US" sz="900" spc="-52" strike="noStrike">
                <a:solidFill>
                  <a:srgbClr val="667085"/>
                </a:solidFill>
                <a:latin typeface="Arial MT"/>
              </a:defRPr>
            </a:lvl1pPr>
          </a:lstStyle>
          <a:p>
            <a:pPr marL="101520" indent="0" defTabSz="914400">
              <a:lnSpc>
                <a:spcPct val="100000"/>
              </a:lnSpc>
              <a:spcBef>
                <a:spcPts val="14"/>
              </a:spcBef>
              <a:buNone/>
              <a:tabLst>
                <a:tab algn="l" pos="0"/>
              </a:tabLst>
            </a:pPr>
            <a:fld id="{E6109A8C-6CB4-4103-8A88-2A8E6BBA3C4B}"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3" name="object 2"/>
          <p:cNvSpPr/>
          <p:nvPr/>
        </p:nvSpPr>
        <p:spPr>
          <a:xfrm>
            <a:off x="667440" y="331200"/>
            <a:ext cx="953640" cy="866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800" spc="-21" strike="noStrike">
                <a:solidFill>
                  <a:srgbClr val="17365d"/>
                </a:solidFill>
                <a:latin typeface="Arial"/>
              </a:rPr>
              <a:t>Flow </a:t>
            </a:r>
            <a:r>
              <a:rPr b="1" lang="en-US" sz="2800" spc="-12" strike="noStrike">
                <a:solidFill>
                  <a:srgbClr val="17365d"/>
                </a:solidFill>
                <a:latin typeface="Arial"/>
              </a:rPr>
              <a:t>Chart</a:t>
            </a:r>
            <a:endParaRPr b="0" lang="en-US" sz="2800" spc="-1" strike="noStrike">
              <a:solidFill>
                <a:srgbClr val="000000"/>
              </a:solidFill>
              <a:latin typeface="Arial"/>
            </a:endParaRPr>
          </a:p>
        </p:txBody>
      </p:sp>
      <p:grpSp>
        <p:nvGrpSpPr>
          <p:cNvPr id="74" name="object 3"/>
          <p:cNvGrpSpPr/>
          <p:nvPr/>
        </p:nvGrpSpPr>
        <p:grpSpPr>
          <a:xfrm>
            <a:off x="685800" y="1325880"/>
            <a:ext cx="10789200" cy="3839760"/>
            <a:chOff x="685800" y="1325880"/>
            <a:chExt cx="10789200" cy="3839760"/>
          </a:xfrm>
        </p:grpSpPr>
        <p:sp>
          <p:nvSpPr>
            <p:cNvPr id="75" name="object 4"/>
            <p:cNvSpPr/>
            <p:nvPr/>
          </p:nvSpPr>
          <p:spPr>
            <a:xfrm>
              <a:off x="685800" y="1325880"/>
              <a:ext cx="10789200" cy="3839760"/>
            </a:xfrm>
            <a:custGeom>
              <a:avLst/>
              <a:gdLst>
                <a:gd name="textAreaLeft" fmla="*/ 0 w 10789200"/>
                <a:gd name="textAreaRight" fmla="*/ 10789920 w 10789200"/>
                <a:gd name="textAreaTop" fmla="*/ 0 h 3839760"/>
                <a:gd name="textAreaBottom" fmla="*/ 3840480 h 3839760"/>
              </a:gdLst>
              <a:ahLst/>
              <a:rect l="textAreaLeft" t="textAreaTop" r="textAreaRight" b="textAreaBottom"/>
              <a:pathLst>
                <a:path w="10789920" h="3840479">
                  <a:moveTo>
                    <a:pt x="10149827" y="3840479"/>
                  </a:move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76" name="object 5"/>
            <p:cNvSpPr/>
            <p:nvPr/>
          </p:nvSpPr>
          <p:spPr>
            <a:xfrm>
              <a:off x="685800" y="1325880"/>
              <a:ext cx="10789200" cy="3839760"/>
            </a:xfrm>
            <a:custGeom>
              <a:avLst/>
              <a:gdLst>
                <a:gd name="textAreaLeft" fmla="*/ 0 w 10789200"/>
                <a:gd name="textAreaRight" fmla="*/ 10789920 w 10789200"/>
                <a:gd name="textAreaTop" fmla="*/ 0 h 3839760"/>
                <a:gd name="textAreaBottom" fmla="*/ 3840480 h 3839760"/>
              </a:gdLst>
              <a:ahLst/>
              <a:rect l="textAreaLeft" t="textAreaTop" r="textAreaRight" b="textAreaBottom"/>
              <a:pathLst>
                <a:path w="10789920" h="3840479">
                  <a:moveTo>
                    <a:pt x="0" y="640092"/>
                  </a:move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77" name="object 6"/>
          <p:cNvSpPr/>
          <p:nvPr/>
        </p:nvSpPr>
        <p:spPr>
          <a:xfrm>
            <a:off x="4019040" y="2858400"/>
            <a:ext cx="3981600" cy="56412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1"/>
              </a:rPr>
              <a:t>Flow Chart</a:t>
            </a:r>
            <a:endParaRPr b="0" lang="en-US" sz="1800" spc="-1" strike="noStrike">
              <a:solidFill>
                <a:srgbClr val="000000"/>
              </a:solidFill>
              <a:latin typeface="Arial"/>
            </a:endParaRPr>
          </a:p>
          <a:p>
            <a:pPr algn="ctr" defTabSz="914400">
              <a:lnSpc>
                <a:spcPct val="100000"/>
              </a:lnSpc>
              <a:spcBef>
                <a:spcPts val="26"/>
              </a:spcBef>
            </a:pPr>
            <a:endParaRPr b="0" lang="en-US" sz="1800" spc="-1" strike="noStrike">
              <a:solidFill>
                <a:srgbClr val="000000"/>
              </a:solidFill>
              <a:latin typeface="Arial"/>
            </a:endParaRPr>
          </a:p>
        </p:txBody>
      </p:sp>
      <p:sp>
        <p:nvSpPr>
          <p:cNvPr id="78" name="object 7"/>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79" name="object 8"/>
          <p:cNvSpPr/>
          <p:nvPr/>
        </p:nvSpPr>
        <p:spPr>
          <a:xfrm>
            <a:off x="11450880" y="6542280"/>
            <a:ext cx="88920" cy="138960"/>
          </a:xfrm>
          <a:prstGeom prst="rect">
            <a:avLst/>
          </a:prstGeom>
          <a:noFill/>
          <a:ln w="0">
            <a:noFill/>
          </a:ln>
        </p:spPr>
        <p:style>
          <a:lnRef idx="0"/>
          <a:fillRef idx="0"/>
          <a:effectRef idx="0"/>
          <a:fontRef idx="minor"/>
        </p:style>
        <p:txBody>
          <a:bodyPr lIns="0" rIns="0" tIns="1800" bIns="0" anchor="t">
            <a:spAutoFit/>
          </a:bodyPr>
          <a:p>
            <a:pPr marL="12600" defTabSz="914400">
              <a:lnSpc>
                <a:spcPct val="100000"/>
              </a:lnSpc>
              <a:spcBef>
                <a:spcPts val="14"/>
              </a:spcBef>
            </a:pPr>
            <a:r>
              <a:rPr b="0" lang="en-US" sz="900" spc="-52" strike="noStrike">
                <a:solidFill>
                  <a:srgbClr val="667085"/>
                </a:solidFill>
                <a:latin typeface="Arial MT"/>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2" strike="noStrike">
                <a:solidFill>
                  <a:srgbClr val="17365d"/>
                </a:solidFill>
                <a:latin typeface="Arial"/>
              </a:rPr>
              <a:t>System</a:t>
            </a:r>
            <a:r>
              <a:rPr b="1" lang="en-US" sz="2800" spc="-177" strike="noStrike">
                <a:solidFill>
                  <a:srgbClr val="17365d"/>
                </a:solidFill>
                <a:latin typeface="Arial"/>
              </a:rPr>
              <a:t> </a:t>
            </a:r>
            <a:r>
              <a:rPr b="1" lang="en-US" sz="2800" spc="-12" strike="noStrike">
                <a:solidFill>
                  <a:srgbClr val="17365d"/>
                </a:solidFill>
                <a:latin typeface="Arial"/>
              </a:rPr>
              <a:t>Architecture</a:t>
            </a:r>
            <a:endParaRPr b="0" lang="en-US" sz="2800" spc="-1" strike="noStrike">
              <a:solidFill>
                <a:schemeClr val="dk1"/>
              </a:solidFill>
              <a:latin typeface="Calibri"/>
            </a:endParaRPr>
          </a:p>
        </p:txBody>
      </p:sp>
      <p:grpSp>
        <p:nvGrpSpPr>
          <p:cNvPr id="81" name="object 3"/>
          <p:cNvGrpSpPr/>
          <p:nvPr/>
        </p:nvGrpSpPr>
        <p:grpSpPr>
          <a:xfrm>
            <a:off x="685800" y="1325880"/>
            <a:ext cx="10789200" cy="3839760"/>
            <a:chOff x="685800" y="1325880"/>
            <a:chExt cx="10789200" cy="3839760"/>
          </a:xfrm>
        </p:grpSpPr>
        <p:sp>
          <p:nvSpPr>
            <p:cNvPr id="82" name="object 4"/>
            <p:cNvSpPr/>
            <p:nvPr/>
          </p:nvSpPr>
          <p:spPr>
            <a:xfrm>
              <a:off x="685800" y="1325880"/>
              <a:ext cx="10789200" cy="3839760"/>
            </a:xfrm>
            <a:custGeom>
              <a:avLst/>
              <a:gdLst>
                <a:gd name="textAreaLeft" fmla="*/ 0 w 10789200"/>
                <a:gd name="textAreaRight" fmla="*/ 10789920 w 10789200"/>
                <a:gd name="textAreaTop" fmla="*/ 0 h 3839760"/>
                <a:gd name="textAreaBottom" fmla="*/ 3840480 h 3839760"/>
              </a:gdLst>
              <a:ahLst/>
              <a:rect l="textAreaLeft" t="textAreaTop" r="textAreaRight" b="textAreaBottom"/>
              <a:pathLst>
                <a:path w="10789920" h="3840479">
                  <a:moveTo>
                    <a:pt x="10149827" y="3840479"/>
                  </a:move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83" name="object 5"/>
            <p:cNvSpPr/>
            <p:nvPr/>
          </p:nvSpPr>
          <p:spPr>
            <a:xfrm>
              <a:off x="685800" y="1325880"/>
              <a:ext cx="10789200" cy="3839760"/>
            </a:xfrm>
            <a:custGeom>
              <a:avLst/>
              <a:gdLst>
                <a:gd name="textAreaLeft" fmla="*/ 0 w 10789200"/>
                <a:gd name="textAreaRight" fmla="*/ 10789920 w 10789200"/>
                <a:gd name="textAreaTop" fmla="*/ 0 h 3839760"/>
                <a:gd name="textAreaBottom" fmla="*/ 3840480 h 3839760"/>
              </a:gdLst>
              <a:ahLst/>
              <a:rect l="textAreaLeft" t="textAreaTop" r="textAreaRight" b="textAreaBottom"/>
              <a:pathLst>
                <a:path w="10789920" h="3840479">
                  <a:moveTo>
                    <a:pt x="0" y="640092"/>
                  </a:move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84" name="object 6"/>
          <p:cNvSpPr/>
          <p:nvPr/>
        </p:nvSpPr>
        <p:spPr>
          <a:xfrm>
            <a:off x="4960440" y="2858400"/>
            <a:ext cx="2238840" cy="28656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1"/>
              </a:rPr>
              <a:t>System Architecture
</a:t>
            </a:r>
            <a:endParaRPr b="0" lang="en-US" sz="1800" spc="-1" strike="noStrike">
              <a:solidFill>
                <a:srgbClr val="000000"/>
              </a:solidFill>
              <a:latin typeface="Arial"/>
            </a:endParaRPr>
          </a:p>
        </p:txBody>
      </p:sp>
      <p:sp>
        <p:nvSpPr>
          <p:cNvPr id="85" name="object 7"/>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86" name="object 8"/>
          <p:cNvSpPr/>
          <p:nvPr/>
        </p:nvSpPr>
        <p:spPr>
          <a:xfrm>
            <a:off x="11450880" y="6542280"/>
            <a:ext cx="88920" cy="138960"/>
          </a:xfrm>
          <a:prstGeom prst="rect">
            <a:avLst/>
          </a:prstGeom>
          <a:noFill/>
          <a:ln w="0">
            <a:noFill/>
          </a:ln>
        </p:spPr>
        <p:style>
          <a:lnRef idx="0"/>
          <a:fillRef idx="0"/>
          <a:effectRef idx="0"/>
          <a:fontRef idx="minor"/>
        </p:style>
        <p:txBody>
          <a:bodyPr lIns="0" rIns="0" tIns="1800" bIns="0" anchor="t">
            <a:spAutoFit/>
          </a:bodyPr>
          <a:p>
            <a:pPr marL="12600" defTabSz="914400">
              <a:lnSpc>
                <a:spcPct val="100000"/>
              </a:lnSpc>
              <a:spcBef>
                <a:spcPts val="14"/>
              </a:spcBef>
            </a:pPr>
            <a:r>
              <a:rPr b="0" lang="en-US" sz="900" spc="-52" strike="noStrike">
                <a:solidFill>
                  <a:srgbClr val="667085"/>
                </a:solidFill>
                <a:latin typeface="Arial MT"/>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667440" y="331200"/>
            <a:ext cx="108565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Use</a:t>
            </a:r>
            <a:r>
              <a:rPr b="1" lang="en-US" sz="2800" spc="-86" strike="noStrike">
                <a:solidFill>
                  <a:srgbClr val="17365d"/>
                </a:solidFill>
                <a:latin typeface="Arial"/>
              </a:rPr>
              <a:t> </a:t>
            </a:r>
            <a:r>
              <a:rPr b="1" lang="en-US" sz="2800" spc="-1" strike="noStrike">
                <a:solidFill>
                  <a:srgbClr val="17365d"/>
                </a:solidFill>
                <a:latin typeface="Arial"/>
              </a:rPr>
              <a:t>Case</a:t>
            </a:r>
            <a:r>
              <a:rPr b="1" lang="en-US" sz="2800" spc="-86" strike="noStrike">
                <a:solidFill>
                  <a:srgbClr val="17365d"/>
                </a:solidFill>
                <a:latin typeface="Arial"/>
              </a:rPr>
              <a:t> </a:t>
            </a:r>
            <a:r>
              <a:rPr b="1" lang="en-US" sz="2800" spc="-1" strike="noStrike">
                <a:solidFill>
                  <a:srgbClr val="17365d"/>
                </a:solidFill>
                <a:latin typeface="Arial"/>
              </a:rPr>
              <a:t>&amp;</a:t>
            </a:r>
            <a:r>
              <a:rPr b="1" lang="en-US" sz="2800" spc="-177" strike="noStrike">
                <a:solidFill>
                  <a:srgbClr val="17365d"/>
                </a:solidFill>
                <a:latin typeface="Arial"/>
              </a:rPr>
              <a:t> </a:t>
            </a:r>
            <a:r>
              <a:rPr b="1" lang="en-US" sz="2800" spc="-1" strike="noStrike">
                <a:solidFill>
                  <a:srgbClr val="17365d"/>
                </a:solidFill>
                <a:latin typeface="Arial"/>
              </a:rPr>
              <a:t>Activity</a:t>
            </a:r>
            <a:r>
              <a:rPr b="1" lang="en-US" sz="2800" spc="-86" strike="noStrike">
                <a:solidFill>
                  <a:srgbClr val="17365d"/>
                </a:solidFill>
                <a:latin typeface="Arial"/>
              </a:rPr>
              <a:t> </a:t>
            </a:r>
            <a:r>
              <a:rPr b="1" lang="en-US" sz="2800" spc="-12" strike="noStrike">
                <a:solidFill>
                  <a:srgbClr val="17365d"/>
                </a:solidFill>
                <a:latin typeface="Arial"/>
              </a:rPr>
              <a:t>Diagram</a:t>
            </a:r>
            <a:endParaRPr b="0" lang="en-US" sz="2800" spc="-1" strike="noStrike">
              <a:solidFill>
                <a:schemeClr val="dk1"/>
              </a:solidFill>
              <a:latin typeface="Calibri"/>
            </a:endParaRPr>
          </a:p>
        </p:txBody>
      </p:sp>
      <p:grpSp>
        <p:nvGrpSpPr>
          <p:cNvPr id="88" name="object 3"/>
          <p:cNvGrpSpPr/>
          <p:nvPr/>
        </p:nvGrpSpPr>
        <p:grpSpPr>
          <a:xfrm>
            <a:off x="640080" y="1417320"/>
            <a:ext cx="5302800" cy="4296960"/>
            <a:chOff x="640080" y="1417320"/>
            <a:chExt cx="5302800" cy="4296960"/>
          </a:xfrm>
        </p:grpSpPr>
        <p:sp>
          <p:nvSpPr>
            <p:cNvPr id="89" name="object 4"/>
            <p:cNvSpPr/>
            <p:nvPr/>
          </p:nvSpPr>
          <p:spPr>
            <a:xfrm>
              <a:off x="64008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90" name="object 5"/>
            <p:cNvSpPr/>
            <p:nvPr/>
          </p:nvSpPr>
          <p:spPr>
            <a:xfrm>
              <a:off x="64008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91" name="object 6"/>
          <p:cNvSpPr/>
          <p:nvPr/>
        </p:nvSpPr>
        <p:spPr>
          <a:xfrm>
            <a:off x="1606680" y="2908800"/>
            <a:ext cx="3399840" cy="133344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1"/>
              </a:rPr>
              <a:t>Use Case Diagram Volunteer</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2"/>
              </a:rPr>
              <a:t>Use Case Diagram NGO</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3"/>
              </a:rPr>
              <a:t>Use Case Diagram Corporate</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4"/>
              </a:rPr>
              <a:t>Use Case Diagram Admin</a:t>
            </a:r>
            <a:endParaRPr b="0" lang="en-US" sz="1800" spc="-1" strike="noStrike">
              <a:solidFill>
                <a:srgbClr val="000000"/>
              </a:solidFill>
              <a:latin typeface="Arial"/>
            </a:endParaRPr>
          </a:p>
          <a:p>
            <a:pPr algn="ctr" defTabSz="914400">
              <a:lnSpc>
                <a:spcPct val="100000"/>
              </a:lnSpc>
              <a:spcBef>
                <a:spcPts val="26"/>
              </a:spcBef>
            </a:pPr>
            <a:endParaRPr b="0" lang="en-US" sz="1200" spc="-1" strike="noStrike">
              <a:solidFill>
                <a:srgbClr val="000000"/>
              </a:solidFill>
              <a:latin typeface="Arial"/>
            </a:endParaRPr>
          </a:p>
        </p:txBody>
      </p:sp>
      <p:grpSp>
        <p:nvGrpSpPr>
          <p:cNvPr id="92" name="object 7"/>
          <p:cNvGrpSpPr/>
          <p:nvPr/>
        </p:nvGrpSpPr>
        <p:grpSpPr>
          <a:xfrm>
            <a:off x="6263640" y="1417320"/>
            <a:ext cx="5302800" cy="4296960"/>
            <a:chOff x="6263640" y="1417320"/>
            <a:chExt cx="5302800" cy="4296960"/>
          </a:xfrm>
        </p:grpSpPr>
        <p:sp>
          <p:nvSpPr>
            <p:cNvPr id="93" name="object 8"/>
            <p:cNvSpPr/>
            <p:nvPr/>
          </p:nvSpPr>
          <p:spPr>
            <a:xfrm>
              <a:off x="626364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94" name="object 9"/>
            <p:cNvSpPr/>
            <p:nvPr/>
          </p:nvSpPr>
          <p:spPr>
            <a:xfrm>
              <a:off x="626364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95" name="object 10"/>
          <p:cNvSpPr/>
          <p:nvPr/>
        </p:nvSpPr>
        <p:spPr>
          <a:xfrm>
            <a:off x="7621200" y="3014280"/>
            <a:ext cx="3385080" cy="86040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5"/>
              </a:rPr>
              <a:t>Volunteer Activity Diagram</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6"/>
              </a:rPr>
              <a:t>NGO Activity Diagram</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7"/>
              </a:rPr>
              <a:t>Corporate Activity Diagram</a:t>
            </a:r>
            <a:endParaRPr b="0" lang="en-US" sz="1800" spc="-1" strike="noStrike">
              <a:solidFill>
                <a:srgbClr val="000000"/>
              </a:solidFill>
              <a:latin typeface="Arial"/>
            </a:endParaRPr>
          </a:p>
        </p:txBody>
      </p:sp>
      <p:sp>
        <p:nvSpPr>
          <p:cNvPr id="96" name="object 11"/>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97" name="PlaceHolder 2"/>
          <p:cNvSpPr>
            <a:spLocks noGrp="1"/>
          </p:cNvSpPr>
          <p:nvPr>
            <p:ph type="sldNum" idx="20"/>
          </p:nvPr>
        </p:nvSpPr>
        <p:spPr>
          <a:xfrm>
            <a:off x="11361960" y="6542280"/>
            <a:ext cx="216000" cy="3979080"/>
          </a:xfrm>
          <a:prstGeom prst="rect">
            <a:avLst/>
          </a:prstGeom>
          <a:noFill/>
          <a:ln w="0">
            <a:noFill/>
          </a:ln>
        </p:spPr>
        <p:txBody>
          <a:bodyPr lIns="0" rIns="0" tIns="1800" bIns="0" anchor="t">
            <a:noAutofit/>
          </a:bodyPr>
          <a:lstStyle>
            <a:lvl1pPr marL="38160" indent="0" defTabSz="914400">
              <a:lnSpc>
                <a:spcPct val="100000"/>
              </a:lnSpc>
              <a:spcBef>
                <a:spcPts val="14"/>
              </a:spcBef>
              <a:buNone/>
              <a:tabLst>
                <a:tab algn="l" pos="0"/>
              </a:tabLst>
              <a:defRPr b="0" lang="en-US" sz="900" spc="-26" strike="noStrike">
                <a:solidFill>
                  <a:srgbClr val="667085"/>
                </a:solidFill>
                <a:latin typeface="Arial MT"/>
              </a:defRPr>
            </a:lvl1pPr>
          </a:lstStyle>
          <a:p>
            <a:pPr marL="38160" indent="0" defTabSz="914400">
              <a:lnSpc>
                <a:spcPct val="100000"/>
              </a:lnSpc>
              <a:spcBef>
                <a:spcPts val="14"/>
              </a:spcBef>
              <a:buNone/>
              <a:tabLst>
                <a:tab algn="l" pos="0"/>
              </a:tabLst>
            </a:pPr>
            <a:r>
              <a:rPr b="0" lang="en-US" sz="900" spc="-26" strike="noStrike">
                <a:solidFill>
                  <a:srgbClr val="667085"/>
                </a:solidFill>
                <a:latin typeface="Arial MT"/>
              </a:rPr>
              <a:t>9</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667440" y="331200"/>
            <a:ext cx="310680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 strike="noStrike">
                <a:solidFill>
                  <a:srgbClr val="17365d"/>
                </a:solidFill>
                <a:latin typeface="Arial"/>
              </a:rPr>
              <a:t>Sequence</a:t>
            </a:r>
            <a:r>
              <a:rPr b="1" lang="en-US" sz="2800" spc="-100" strike="noStrike">
                <a:solidFill>
                  <a:srgbClr val="17365d"/>
                </a:solidFill>
                <a:latin typeface="Arial"/>
              </a:rPr>
              <a:t> </a:t>
            </a:r>
            <a:r>
              <a:rPr b="1" lang="en-US" sz="2800" spc="-1" strike="noStrike">
                <a:solidFill>
                  <a:srgbClr val="17365d"/>
                </a:solidFill>
                <a:latin typeface="Arial"/>
              </a:rPr>
              <a:t>&amp;</a:t>
            </a:r>
            <a:r>
              <a:rPr b="1" lang="en-US" sz="2800" spc="-100" strike="noStrike">
                <a:solidFill>
                  <a:srgbClr val="17365d"/>
                </a:solidFill>
                <a:latin typeface="Arial"/>
              </a:rPr>
              <a:t> </a:t>
            </a:r>
            <a:r>
              <a:rPr b="1" lang="en-US" sz="2800" spc="-12" strike="noStrike">
                <a:solidFill>
                  <a:srgbClr val="17365d"/>
                </a:solidFill>
                <a:latin typeface="Arial"/>
              </a:rPr>
              <a:t>Class Diagram</a:t>
            </a:r>
            <a:endParaRPr b="0" lang="en-US" sz="2800" spc="-1" strike="noStrike">
              <a:solidFill>
                <a:schemeClr val="dk1"/>
              </a:solidFill>
              <a:latin typeface="Calibri"/>
            </a:endParaRPr>
          </a:p>
        </p:txBody>
      </p:sp>
      <p:grpSp>
        <p:nvGrpSpPr>
          <p:cNvPr id="99" name="object 3"/>
          <p:cNvGrpSpPr/>
          <p:nvPr/>
        </p:nvGrpSpPr>
        <p:grpSpPr>
          <a:xfrm>
            <a:off x="640080" y="1417320"/>
            <a:ext cx="5302800" cy="4296960"/>
            <a:chOff x="640080" y="1417320"/>
            <a:chExt cx="5302800" cy="4296960"/>
          </a:xfrm>
        </p:grpSpPr>
        <p:sp>
          <p:nvSpPr>
            <p:cNvPr id="100" name="object 4"/>
            <p:cNvSpPr/>
            <p:nvPr/>
          </p:nvSpPr>
          <p:spPr>
            <a:xfrm>
              <a:off x="64008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101" name="object 5"/>
            <p:cNvSpPr/>
            <p:nvPr/>
          </p:nvSpPr>
          <p:spPr>
            <a:xfrm>
              <a:off x="64008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102" name="object 6"/>
          <p:cNvSpPr/>
          <p:nvPr/>
        </p:nvSpPr>
        <p:spPr>
          <a:xfrm>
            <a:off x="1600200" y="2781360"/>
            <a:ext cx="3579120" cy="133344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1"/>
              </a:rPr>
              <a:t> Sequence Diagram Volunteer</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2"/>
              </a:rPr>
              <a:t> Sequence Diagram NGO</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3"/>
              </a:rPr>
              <a:t> Sequence Diagram Corporate</a:t>
            </a:r>
            <a:endParaRPr b="0" lang="en-US" sz="1800" spc="-1" strike="noStrike">
              <a:solidFill>
                <a:srgbClr val="000000"/>
              </a:solidFill>
              <a:latin typeface="Arial"/>
            </a:endParaRPr>
          </a:p>
          <a:p>
            <a:pPr algn="ctr" defTabSz="914400">
              <a:lnSpc>
                <a:spcPct val="100000"/>
              </a:lnSpc>
              <a:spcBef>
                <a:spcPts val="99"/>
              </a:spcBef>
            </a:pPr>
            <a:r>
              <a:rPr b="1" lang="en-US" sz="1800" spc="-1" strike="noStrike" u="sng">
                <a:solidFill>
                  <a:srgbClr val="0000ff"/>
                </a:solidFill>
                <a:uFillTx/>
                <a:latin typeface="Arial"/>
                <a:hlinkClick r:id="rId4"/>
              </a:rPr>
              <a:t> Sequence Diagram Admin</a:t>
            </a:r>
            <a:endParaRPr b="0" lang="en-US" sz="1800" spc="-1" strike="noStrike">
              <a:solidFill>
                <a:srgbClr val="000000"/>
              </a:solidFill>
              <a:latin typeface="Arial"/>
            </a:endParaRPr>
          </a:p>
          <a:p>
            <a:pPr algn="ctr" defTabSz="914400">
              <a:lnSpc>
                <a:spcPct val="100000"/>
              </a:lnSpc>
              <a:spcBef>
                <a:spcPts val="26"/>
              </a:spcBef>
            </a:pPr>
            <a:endParaRPr b="0" lang="en-US" sz="1200" spc="-1" strike="noStrike">
              <a:solidFill>
                <a:srgbClr val="000000"/>
              </a:solidFill>
              <a:latin typeface="Arial"/>
            </a:endParaRPr>
          </a:p>
        </p:txBody>
      </p:sp>
      <p:grpSp>
        <p:nvGrpSpPr>
          <p:cNvPr id="103" name="object 7"/>
          <p:cNvGrpSpPr/>
          <p:nvPr/>
        </p:nvGrpSpPr>
        <p:grpSpPr>
          <a:xfrm>
            <a:off x="6263640" y="1417320"/>
            <a:ext cx="5302800" cy="4296960"/>
            <a:chOff x="6263640" y="1417320"/>
            <a:chExt cx="5302800" cy="4296960"/>
          </a:xfrm>
        </p:grpSpPr>
        <p:sp>
          <p:nvSpPr>
            <p:cNvPr id="104" name="object 8"/>
            <p:cNvSpPr/>
            <p:nvPr/>
          </p:nvSpPr>
          <p:spPr>
            <a:xfrm>
              <a:off x="626364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105" name="object 9"/>
            <p:cNvSpPr/>
            <p:nvPr/>
          </p:nvSpPr>
          <p:spPr>
            <a:xfrm>
              <a:off x="6263640" y="1417320"/>
              <a:ext cx="5302800" cy="4296960"/>
            </a:xfrm>
            <a:custGeom>
              <a:avLst/>
              <a:gdLst>
                <a:gd name="textAreaLeft" fmla="*/ 0 w 5302800"/>
                <a:gd name="textAreaRight" fmla="*/ 5303520 w 5302800"/>
                <a:gd name="textAreaTop" fmla="*/ 0 h 4296960"/>
                <a:gd name="textAreaBottom" fmla="*/ 4297680 h 429696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grpSp>
      <p:sp>
        <p:nvSpPr>
          <p:cNvPr id="106" name="object 10"/>
          <p:cNvSpPr/>
          <p:nvPr/>
        </p:nvSpPr>
        <p:spPr>
          <a:xfrm>
            <a:off x="7765560" y="3315600"/>
            <a:ext cx="2298600" cy="472680"/>
          </a:xfrm>
          <a:prstGeom prst="rect">
            <a:avLst/>
          </a:prstGeom>
          <a:noFill/>
          <a:ln w="0">
            <a:noFill/>
          </a:ln>
        </p:spPr>
        <p:style>
          <a:lnRef idx="0"/>
          <a:fillRef idx="0"/>
          <a:effectRef idx="0"/>
          <a:fontRef idx="minor"/>
        </p:style>
        <p:txBody>
          <a:bodyPr lIns="0" rIns="0" tIns="12600" bIns="0" anchor="t">
            <a:spAutoFit/>
          </a:bodyPr>
          <a:p>
            <a:pPr algn="ctr" defTabSz="914400">
              <a:lnSpc>
                <a:spcPct val="100000"/>
              </a:lnSpc>
              <a:spcBef>
                <a:spcPts val="99"/>
              </a:spcBef>
            </a:pPr>
            <a:r>
              <a:rPr b="1" lang="en-US" sz="1800" spc="-1" strike="noStrike" u="sng">
                <a:solidFill>
                  <a:srgbClr val="0000ff"/>
                </a:solidFill>
                <a:uFillTx/>
                <a:latin typeface="Arial"/>
                <a:hlinkClick r:id="rId5"/>
              </a:rPr>
              <a:t> Class Diagram</a:t>
            </a:r>
            <a:endParaRPr b="0" lang="en-US" sz="1800" spc="-1" strike="noStrike">
              <a:solidFill>
                <a:srgbClr val="000000"/>
              </a:solidFill>
              <a:latin typeface="Arial"/>
            </a:endParaRPr>
          </a:p>
          <a:p>
            <a:pPr algn="ctr" defTabSz="914400">
              <a:lnSpc>
                <a:spcPct val="100000"/>
              </a:lnSpc>
              <a:spcBef>
                <a:spcPts val="26"/>
              </a:spcBef>
            </a:pPr>
            <a:endParaRPr b="0" lang="en-US" sz="1200" spc="-1" strike="noStrike">
              <a:solidFill>
                <a:srgbClr val="000000"/>
              </a:solidFill>
              <a:latin typeface="Arial"/>
            </a:endParaRPr>
          </a:p>
        </p:txBody>
      </p:sp>
      <p:sp>
        <p:nvSpPr>
          <p:cNvPr id="107" name="object 11"/>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108" name="PlaceHolder 2"/>
          <p:cNvSpPr>
            <a:spLocks noGrp="1"/>
          </p:cNvSpPr>
          <p:nvPr>
            <p:ph type="sldNum" idx="21"/>
          </p:nvPr>
        </p:nvSpPr>
        <p:spPr>
          <a:xfrm>
            <a:off x="11361960" y="6542280"/>
            <a:ext cx="216000" cy="3979080"/>
          </a:xfrm>
          <a:prstGeom prst="rect">
            <a:avLst/>
          </a:prstGeom>
          <a:noFill/>
          <a:ln w="0">
            <a:noFill/>
          </a:ln>
        </p:spPr>
        <p:txBody>
          <a:bodyPr lIns="0" rIns="0" tIns="1800" bIns="0" anchor="t">
            <a:noAutofit/>
          </a:bodyPr>
          <a:lstStyle>
            <a:lvl1pPr marL="38160" indent="0" defTabSz="914400">
              <a:lnSpc>
                <a:spcPct val="100000"/>
              </a:lnSpc>
              <a:spcBef>
                <a:spcPts val="14"/>
              </a:spcBef>
              <a:buNone/>
              <a:tabLst>
                <a:tab algn="l" pos="0"/>
              </a:tabLst>
              <a:defRPr b="0" lang="en-US" sz="900" spc="-26" strike="noStrike">
                <a:solidFill>
                  <a:srgbClr val="667085"/>
                </a:solidFill>
                <a:latin typeface="Arial MT"/>
              </a:defRPr>
            </a:lvl1pPr>
          </a:lstStyle>
          <a:p>
            <a:pPr marL="38160" indent="0" defTabSz="914400">
              <a:lnSpc>
                <a:spcPct val="100000"/>
              </a:lnSpc>
              <a:spcBef>
                <a:spcPts val="14"/>
              </a:spcBef>
              <a:buNone/>
              <a:tabLst>
                <a:tab algn="l" pos="0"/>
              </a:tabLst>
            </a:pPr>
            <a:r>
              <a:rPr b="0" lang="en-US" sz="900" spc="-26" strike="noStrike">
                <a:solidFill>
                  <a:srgbClr val="667085"/>
                </a:solidFill>
                <a:latin typeface="Arial MT"/>
              </a:rPr>
              <a:t>10</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57640" y="198000"/>
            <a:ext cx="337500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br>
              <a:rPr sz="2800"/>
            </a:br>
            <a:endParaRPr b="0" lang="en-US" sz="2800" spc="-1" strike="noStrike">
              <a:solidFill>
                <a:schemeClr val="dk1"/>
              </a:solidFill>
              <a:latin typeface="Calibri"/>
            </a:endParaRPr>
          </a:p>
        </p:txBody>
      </p:sp>
      <p:sp>
        <p:nvSpPr>
          <p:cNvPr id="110"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users</a:t>
            </a:r>
            <a:endParaRPr b="0" lang="en-US" sz="2000" spc="-1" strike="noStrike">
              <a:solidFill>
                <a:srgbClr val="000000"/>
              </a:solidFill>
              <a:latin typeface="Arial"/>
            </a:endParaRPr>
          </a:p>
        </p:txBody>
      </p:sp>
      <p:sp>
        <p:nvSpPr>
          <p:cNvPr id="111"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12" name="object 6"/>
          <p:cNvGraphicFramePr/>
          <p:nvPr/>
        </p:nvGraphicFramePr>
        <p:xfrm>
          <a:off x="1110600" y="2350080"/>
          <a:ext cx="9670680" cy="315288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assigned to each user account.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role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('volunteer', 'ngo', 'corporate')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Defines the role of the user within the platform.</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name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VARCHAR(150)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Stores the full name of the user or corporate/NGO contact person.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email</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Stores the official email address used for logging in and notifications.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phone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Stores the contact phone number of the user.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city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Records the current city where the user is located.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recording when the user account was created.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showing when the user details were last updated.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13"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stores the primary user account records for all registered individuals and organizations in the system. It contains essential contact and profile details along with user roles. Authentication for these accounts is directly managed through Supabase Auth.</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
        <p:nvSpPr>
          <p:cNvPr id="115"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volunteer_profiles</a:t>
            </a:r>
            <a:endParaRPr b="0" lang="en-US" sz="2000" spc="-1" strike="noStrike">
              <a:solidFill>
                <a:srgbClr val="000000"/>
              </a:solidFill>
              <a:latin typeface="Arial"/>
            </a:endParaRPr>
          </a:p>
        </p:txBody>
      </p:sp>
      <p:sp>
        <p:nvSpPr>
          <p:cNvPr id="116"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17" name="object 6"/>
          <p:cNvGraphicFramePr/>
          <p:nvPr/>
        </p:nvGraphicFramePr>
        <p:xfrm>
          <a:off x="1110600" y="2350080"/>
          <a:ext cx="9670680" cy="370836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volunteer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user_id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main user account in the users table.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skill_tags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Array of tags listing the core skills and interests of the volunteer.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NUMERIC(8,2)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Calculates the total number of verified volunteer hours completed.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credit_points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Stores reward points earned by participating in activities.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trust_score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50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(0 to 100)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Numerical score representing the reliability rating of the volunteer.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Links the volunteer to a corporate employer if applicable.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volunteer profile was created.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profile information was last updated.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18"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maintains specific details related to individual volunteers registered on the platform. It tracks their volunteering history, accumulated hours, credit points, and trust score. It also links volunteers to corporate organizations if they are affiliated with one.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ngo_profiles</a:t>
            </a:r>
            <a:endParaRPr b="0" lang="en-US" sz="2000" spc="-1" strike="noStrike">
              <a:solidFill>
                <a:srgbClr val="000000"/>
              </a:solidFill>
              <a:latin typeface="Arial"/>
            </a:endParaRPr>
          </a:p>
        </p:txBody>
      </p:sp>
      <p:sp>
        <p:nvSpPr>
          <p:cNvPr id="12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21" name="object 6"/>
          <p:cNvGraphicFramePr/>
          <p:nvPr/>
        </p:nvGraphicFramePr>
        <p:xfrm>
          <a:off x="1146600" y="2350080"/>
          <a:ext cx="9670680" cy="379728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NGO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user_id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base user account in the users table.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organization_name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Official registered name of the non-profit organization.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registration_number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VARCHAR(9)</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Government registration number of the NGO.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pan_number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Permanent Account Number (PAN) of the NGO for financial verification.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darpan_id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NGO Darpan portal registration identifier.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focus_areas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List of social causes or sectors the NGO primarily works 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verification_status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'pending'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('pending', 'approved', 'rejected', 'suspended')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 administrative approval status of the NGO.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recording when the NGO profile was registered.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showing when the profile was last modified.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2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contains details regarding non-governmental organizations registered on the platform. It holds registration identifiers, compliance tax numbers, operational focus areas, and verification status. Verification ensures only authorized NGOs post volunteering opportunities.</a:t>
            </a:r>
            <a:endParaRPr b="0" lang="en-US" sz="1200" spc="-1" strike="noStrike">
              <a:solidFill>
                <a:srgbClr val="000000"/>
              </a:solidFill>
              <a:latin typeface="Arial"/>
            </a:endParaRPr>
          </a:p>
        </p:txBody>
      </p:sp>
      <p:sp>
        <p:nvSpPr>
          <p:cNvPr id="12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corporate_profiles (part 1 of 2)</a:t>
            </a:r>
            <a:endParaRPr b="0" lang="en-US" sz="2000" spc="-1" strike="noStrike">
              <a:solidFill>
                <a:srgbClr val="000000"/>
              </a:solidFill>
              <a:latin typeface="Arial"/>
            </a:endParaRPr>
          </a:p>
        </p:txBody>
      </p:sp>
      <p:sp>
        <p:nvSpPr>
          <p:cNvPr id="12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26" name="object 6"/>
          <p:cNvGraphicFramePr/>
          <p:nvPr/>
        </p:nvGraphicFramePr>
        <p:xfrm>
          <a:off x="1110600" y="2350080"/>
          <a:ext cx="9670680" cy="219744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corporate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user_id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base user account in the users table.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company_name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Official legal name of the corporate organization.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registration_number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Government business registration 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cin_number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VARCHAR(21)</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 Identity Number (CIN) assigned to the company.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pan_number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 PAN number for financial compliance.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2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stores profile records for corporate entities participating in CSR initiatives. It manages company registration details, CSR interest areas, and verification status. It also stores a unique join code that employees use to link their profiles to the corporate account.</a:t>
            </a:r>
            <a:endParaRPr b="0" lang="en-US" sz="1200" spc="-1" strike="noStrike">
              <a:solidFill>
                <a:srgbClr val="000000"/>
              </a:solidFill>
              <a:latin typeface="Arial"/>
            </a:endParaRPr>
          </a:p>
        </p:txBody>
      </p:sp>
      <p:sp>
        <p:nvSpPr>
          <p:cNvPr id="12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corporate_profiles (part 2 of 2)</a:t>
            </a:r>
            <a:endParaRPr b="0" lang="en-US" sz="2000" spc="-1" strike="noStrike">
              <a:solidFill>
                <a:srgbClr val="000000"/>
              </a:solidFill>
              <a:latin typeface="Arial"/>
            </a:endParaRPr>
          </a:p>
        </p:txBody>
      </p:sp>
      <p:sp>
        <p:nvSpPr>
          <p:cNvPr id="13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31" name="object 6"/>
          <p:cNvGraphicFramePr/>
          <p:nvPr/>
        </p:nvGraphicFramePr>
        <p:xfrm>
          <a:off x="1110600" y="2350080"/>
          <a:ext cx="9670680" cy="250848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csr_focus_areas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Key social sectors targeted for company CSR initiatives.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verification_status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'pending'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('pending', 'approved', 'rejected', 'suspended')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Verification status of the corporate entity.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join_code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code shared with employees to link with this company.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join_code_active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BOOLEAN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TRUE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Flag indicating whether the employee join code is active.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company profile was created.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company details were last updated.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3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(continued) This table stores profile records for corporate entities participating in CSR initiatives. It manages company registration details, CSR interest areas, and verification status. It also stores a unique join code that employees use to link their profiles to the corporate account.</a:t>
            </a:r>
            <a:endParaRPr b="0" lang="en-US" sz="1200" spc="-1" strike="noStrike">
              <a:solidFill>
                <a:srgbClr val="000000"/>
              </a:solidFill>
              <a:latin typeface="Arial"/>
            </a:endParaRPr>
          </a:p>
        </p:txBody>
      </p:sp>
      <p:sp>
        <p:nvSpPr>
          <p:cNvPr id="133" name="object 2"/>
          <p:cNvSpPr/>
          <p:nvPr/>
        </p:nvSpPr>
        <p:spPr>
          <a:xfrm>
            <a:off x="667440" y="337680"/>
            <a:ext cx="3068640" cy="438840"/>
          </a:xfrm>
          <a:prstGeom prst="rect">
            <a:avLst/>
          </a:prstGeom>
          <a:noFill/>
          <a:ln w="0">
            <a:noFill/>
          </a:ln>
        </p:spPr>
        <p:style>
          <a:lnRef idx="0"/>
          <a:fillRef idx="0"/>
          <a:effectRef idx="0"/>
          <a:fontRef idx="minor"/>
        </p:style>
        <p:txBody>
          <a:bodyPr lIns="0" rIns="0" tIns="12600" bIns="0" anchor="ctr">
            <a:spAutoFit/>
          </a:bodyPr>
          <a:p>
            <a:pPr marL="12600" defTabSz="914400">
              <a:lnSpc>
                <a:spcPct val="100000"/>
              </a:lnSpc>
              <a:spcBef>
                <a:spcPts val="99"/>
              </a:spcBef>
            </a:pPr>
            <a:r>
              <a:rPr b="1" lang="en-US" sz="2800" spc="-21" strike="noStrike">
                <a:solidFill>
                  <a:srgbClr val="17365d"/>
                </a:solidFill>
                <a:latin typeface="Arial"/>
              </a:rPr>
              <a:t>Data </a:t>
            </a:r>
            <a:r>
              <a:rPr b="1" lang="en-US" sz="2800" spc="-12" strike="noStrike">
                <a:solidFill>
                  <a:srgbClr val="17365d"/>
                </a:solidFill>
                <a:latin typeface="Arial"/>
              </a:rPr>
              <a:t>Dictionary</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3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requirements (part 1 of 2)</a:t>
            </a:r>
            <a:endParaRPr b="0" lang="en-US" sz="2000" spc="-1" strike="noStrike">
              <a:solidFill>
                <a:srgbClr val="000000"/>
              </a:solidFill>
              <a:latin typeface="Arial"/>
            </a:endParaRPr>
          </a:p>
        </p:txBody>
      </p:sp>
      <p:sp>
        <p:nvSpPr>
          <p:cNvPr id="13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36" name="object 6"/>
          <p:cNvGraphicFramePr/>
          <p:nvPr/>
        </p:nvGraphicFramePr>
        <p:xfrm>
          <a:off x="1110600" y="2350080"/>
          <a:ext cx="9670680" cy="317520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volunteering requirement.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ngo_profile_id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NGO that created this opportunity.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title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Title or headline of the volunteering drive.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description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Detailed description of responsibilities and goals.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category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VARCHAR(100)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Category of the drive such as Education or Environment.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skill_tags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Required skills sought for the opportunity.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seats_total</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Maximum number of volunteers needed for the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seats_filled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0 AND &lt;= seats_total)</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Number of accepted volunteer applications so far.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event_date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Scheduled date of the volunteering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event_start_time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'00:00:00'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Scheduled start time of the volunteering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3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holds details of volunteering drives and opportunities posted by verified NGOs. It stores information such as location coordinates, required skills, available volunteer seats, and event dates. It serves as the primary entity for volunteer applications.</a:t>
            </a:r>
            <a:endParaRPr b="0" lang="en-US" sz="1200" spc="-1" strike="noStrike">
              <a:solidFill>
                <a:srgbClr val="000000"/>
              </a:solidFill>
              <a:latin typeface="Arial"/>
            </a:endParaRPr>
          </a:p>
        </p:txBody>
      </p:sp>
      <p:sp>
        <p:nvSpPr>
          <p:cNvPr id="13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3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requirements (part 2 of 2)</a:t>
            </a:r>
            <a:endParaRPr b="0" lang="en-US" sz="2000" spc="-1" strike="noStrike">
              <a:solidFill>
                <a:srgbClr val="000000"/>
              </a:solidFill>
              <a:latin typeface="Arial"/>
            </a:endParaRPr>
          </a:p>
        </p:txBody>
      </p:sp>
      <p:sp>
        <p:nvSpPr>
          <p:cNvPr id="14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41" name="object 6"/>
          <p:cNvGraphicFramePr/>
          <p:nvPr/>
        </p:nvGraphicFramePr>
        <p:xfrm>
          <a:off x="1110600" y="2350080"/>
          <a:ext cx="9670680" cy="324180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event_end_time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'23:59:59'</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Scheduled end time of the volunteering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location_name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VARCHAR(255)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Human-readable address or landmark name of the location.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event_latitude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Geographic latitude coordinate of the event location.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event_longitude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Geographic longitude coordinate of the event location.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attendance_radius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NUMERIC(8,2)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3000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Allowed distance radius in meters for GPS attendance check-in.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is_urgent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BOOLEAN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FALSE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Flag indicating if the requirement needs urgent volunteer fulfillment.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'draft'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('draft', 'open', 'completed', 'cancelled')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 stage of the volunteering drive.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recording when the requirement was created.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showing when details were last updated.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4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(continued) This table holds details of volunteering drives and opportunities posted by verified NGOs. It stores information such as location coordinates, required skills, available volunteer seats, and event dates. It serves as the primary entity for volunteer applications.</a:t>
            </a:r>
            <a:endParaRPr b="0" lang="en-US" sz="1200" spc="-1" strike="noStrike">
              <a:solidFill>
                <a:srgbClr val="000000"/>
              </a:solidFill>
              <a:latin typeface="Arial"/>
            </a:endParaRPr>
          </a:p>
        </p:txBody>
      </p:sp>
      <p:sp>
        <p:nvSpPr>
          <p:cNvPr id="14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applications</a:t>
            </a:r>
            <a:endParaRPr b="0" lang="en-US" sz="2000" spc="-1" strike="noStrike">
              <a:solidFill>
                <a:srgbClr val="000000"/>
              </a:solidFill>
              <a:latin typeface="Arial"/>
            </a:endParaRPr>
          </a:p>
        </p:txBody>
      </p:sp>
      <p:sp>
        <p:nvSpPr>
          <p:cNvPr id="14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46" name="object 6"/>
          <p:cNvGraphicFramePr/>
          <p:nvPr/>
        </p:nvGraphicFramePr>
        <p:xfrm>
          <a:off x="1110600" y="2350080"/>
          <a:ext cx="9670680" cy="266400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application record.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requirement applied for.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applying volunteer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'pending'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('pending', 'accepted', 'rejected', 'withdrawn')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 of the application after NGO review.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applied_at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volunteer submitted the application.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decided_at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NGO accepted or rejected the application.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4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records volunteer applications submitted for specific opportunities. It tracks application statuses such as pending, accepted, or rejected, and records decision timestamps. A unique constraint ensures that a volunteer can apply only once per requirement.</a:t>
            </a:r>
            <a:endParaRPr b="0" lang="en-US" sz="1200" spc="-1" strike="noStrike">
              <a:solidFill>
                <a:srgbClr val="000000"/>
              </a:solidFill>
              <a:latin typeface="Arial"/>
            </a:endParaRPr>
          </a:p>
        </p:txBody>
      </p:sp>
      <p:sp>
        <p:nvSpPr>
          <p:cNvPr id="14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attendance (part 1 of 2)</a:t>
            </a:r>
            <a:endParaRPr b="0" lang="en-US" sz="2000" spc="-1" strike="noStrike">
              <a:solidFill>
                <a:srgbClr val="000000"/>
              </a:solidFill>
              <a:latin typeface="Arial"/>
            </a:endParaRPr>
          </a:p>
        </p:txBody>
      </p:sp>
      <p:sp>
        <p:nvSpPr>
          <p:cNvPr id="15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51" name="object 6"/>
          <p:cNvGraphicFramePr/>
          <p:nvPr/>
        </p:nvGraphicFramePr>
        <p:xfrm>
          <a:off x="1110600" y="2350080"/>
          <a:ext cx="9670680" cy="330840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attendance record.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associated volunteering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volunteer attending the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'pending'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('pending', 'checked_in', 'verified', 'rejected')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 verification state of the attendance record.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checkin_time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(checkout_time &gt; checkin_time)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Exact timestamp when the volunteer checked in.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checkin_latitude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Latitude coordinate captured during check-in.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checkin_longitude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Longitude coordinate captured during check-in.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checkin_distance_meters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Calculated distance from event center point at check-in.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5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manages GPS-based attendance verification for volunteers at event locations. It captures exact check-in and check-out timestamps, coordinates, and calculated distances from the location. It also logs the net hours worked by each volunteer.</a:t>
            </a:r>
            <a:endParaRPr b="0" lang="en-US" sz="1200" spc="-1" strike="noStrike">
              <a:solidFill>
                <a:srgbClr val="000000"/>
              </a:solidFill>
              <a:latin typeface="Arial"/>
            </a:endParaRPr>
          </a:p>
        </p:txBody>
      </p:sp>
      <p:sp>
        <p:nvSpPr>
          <p:cNvPr id="15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5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attendance (part 2 of 2)</a:t>
            </a:r>
            <a:endParaRPr b="0" lang="en-US" sz="2000" spc="-1" strike="noStrike">
              <a:solidFill>
                <a:srgbClr val="000000"/>
              </a:solidFill>
              <a:latin typeface="Arial"/>
            </a:endParaRPr>
          </a:p>
        </p:txBody>
      </p:sp>
      <p:sp>
        <p:nvSpPr>
          <p:cNvPr id="15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56" name="object 6"/>
          <p:cNvGraphicFramePr/>
          <p:nvPr/>
        </p:nvGraphicFramePr>
        <p:xfrm>
          <a:off x="1110600" y="2350080"/>
          <a:ext cx="9670680" cy="290844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checkout_time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(checkout_time &gt; checkin_time)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Exact timestamp when the volunteer checked out.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checkout_latitude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Latitude coordinate captured during check-out.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checkout_longitude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NUMERIC(10,7)</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Longitude coordinate captured during check-out.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checkout_distance_meters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Calculated distance from event center point at check-out.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worked_hours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NUMERIC(6,2)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hours logged and calculated for the attendance session.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attendance record was initially created.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attendance status or check-out details were updated.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5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(continued) This table manages GPS-based attendance verification for volunteers at event locations. It captures exact check-in and check-out timestamps, coordinates, and calculated distances from the location. It also logs the net hours worked by each volunteer.</a:t>
            </a:r>
            <a:endParaRPr b="0" lang="en-US" sz="1200" spc="-1" strike="noStrike">
              <a:solidFill>
                <a:srgbClr val="000000"/>
              </a:solidFill>
              <a:latin typeface="Arial"/>
            </a:endParaRPr>
          </a:p>
        </p:txBody>
      </p:sp>
      <p:sp>
        <p:nvSpPr>
          <p:cNvPr id="15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5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credits_log</a:t>
            </a:r>
            <a:endParaRPr b="0" lang="en-US" sz="2000" spc="-1" strike="noStrike">
              <a:solidFill>
                <a:srgbClr val="000000"/>
              </a:solidFill>
              <a:latin typeface="Arial"/>
            </a:endParaRPr>
          </a:p>
        </p:txBody>
      </p:sp>
      <p:sp>
        <p:nvSpPr>
          <p:cNvPr id="16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61" name="object 6"/>
          <p:cNvGraphicFramePr/>
          <p:nvPr/>
        </p:nvGraphicFramePr>
        <p:xfrm>
          <a:off x="1110600" y="2350080"/>
          <a:ext cx="9670680" cy="315288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credit transaction log entry.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volunteer profile receiving the credit adjustment.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specific requirement tied to the credit update.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points_change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Number of credit points added or deducted in this transaction.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hours_change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NUMERIC(6,2)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Number of volunteering hours added or adjusted.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reason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('attendance', 'bonus', 'adjustment', 'penalty')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Specific trigger or cause for credit modification.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remarks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Optional descriptive notes regarding the credit change.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credit transaction was executed.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6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acts as an audit log for all changes made to volunteer credit points and completed hours. It records the reason for points addition or deduction, such as event attendance or bonus allocation. This log guarantees full accountability of earned credits.</a:t>
            </a:r>
            <a:endParaRPr b="0" lang="en-US" sz="1200" spc="-1" strike="noStrike">
              <a:solidFill>
                <a:srgbClr val="000000"/>
              </a:solidFill>
              <a:latin typeface="Arial"/>
            </a:endParaRPr>
          </a:p>
        </p:txBody>
      </p:sp>
      <p:sp>
        <p:nvSpPr>
          <p:cNvPr id="16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6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certificates</a:t>
            </a:r>
            <a:endParaRPr b="0" lang="en-US" sz="2000" spc="-1" strike="noStrike">
              <a:solidFill>
                <a:srgbClr val="000000"/>
              </a:solidFill>
              <a:latin typeface="Arial"/>
            </a:endParaRPr>
          </a:p>
        </p:txBody>
      </p:sp>
      <p:sp>
        <p:nvSpPr>
          <p:cNvPr id="16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66" name="object 6"/>
          <p:cNvGraphicFramePr/>
          <p:nvPr/>
        </p:nvGraphicFramePr>
        <p:xfrm>
          <a:off x="1110600" y="2350080"/>
          <a:ext cx="9670680" cy="346104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certificate entry.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volunteer recipient.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completed requirement drive.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certificate_number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auto-generated tracking code for official validation.</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worked_hours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NUMERIC(6,2)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verified volunteering hours printed on the certificate.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issue_date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CURRENT_DATE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Date on which the certificate was formally issued.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'generated'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('generated', 'revoked')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 validity status of the certificate.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certificate record was generated.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6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tracks digital participation certificates generated for volunteers after successfully completing activities. It stores unique certificate serial numbers, issue dates, total logged hours, and certificate status. Each volunteer can receive only one certificate per requirement.</a:t>
            </a:r>
            <a:endParaRPr b="0" lang="en-US" sz="1200" spc="-1" strike="noStrike">
              <a:solidFill>
                <a:srgbClr val="000000"/>
              </a:solidFill>
              <a:latin typeface="Arial"/>
            </a:endParaRPr>
          </a:p>
        </p:txBody>
      </p:sp>
      <p:sp>
        <p:nvSpPr>
          <p:cNvPr id="16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6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ngo_reviews</a:t>
            </a:r>
            <a:endParaRPr b="0" lang="en-US" sz="2000" spc="-1" strike="noStrike">
              <a:solidFill>
                <a:srgbClr val="000000"/>
              </a:solidFill>
              <a:latin typeface="Arial"/>
            </a:endParaRPr>
          </a:p>
        </p:txBody>
      </p:sp>
      <p:sp>
        <p:nvSpPr>
          <p:cNvPr id="17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71" name="object 6"/>
          <p:cNvGraphicFramePr/>
          <p:nvPr/>
        </p:nvGraphicFramePr>
        <p:xfrm>
          <a:off x="1110600" y="2350080"/>
          <a:ext cx="9670680" cy="299736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review entry.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reviewing volunteer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ngo_profile_id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NGO receiving the rating and review.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specific requirement drive evaluated.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rating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(1 to 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Numerical rating score given by the volunteer between 1 and 5.</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review_comment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TEXT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Detailed text commentary provided by the volunteer.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review was posted.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updated_at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review was last modified.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7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collects ratings and reviews given by volunteers to NGOs after participating in their events. It records numeric ratings and optional feedback comments. A unique constraint ensures a volunteer can review an NGO only once per completed requirement.</a:t>
            </a:r>
            <a:endParaRPr b="0" lang="en-US" sz="1200" spc="-1" strike="noStrike">
              <a:solidFill>
                <a:srgbClr val="000000"/>
              </a:solidFill>
              <a:latin typeface="Arial"/>
            </a:endParaRPr>
          </a:p>
        </p:txBody>
      </p:sp>
      <p:sp>
        <p:nvSpPr>
          <p:cNvPr id="17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csr_pledges</a:t>
            </a:r>
            <a:endParaRPr b="0" lang="en-US" sz="2000" spc="-1" strike="noStrike">
              <a:solidFill>
                <a:srgbClr val="000000"/>
              </a:solidFill>
              <a:latin typeface="Arial"/>
            </a:endParaRPr>
          </a:p>
        </p:txBody>
      </p:sp>
      <p:sp>
        <p:nvSpPr>
          <p:cNvPr id="17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76" name="object 6"/>
          <p:cNvGraphicFramePr/>
          <p:nvPr/>
        </p:nvGraphicFramePr>
        <p:xfrm>
          <a:off x="1110600" y="2350080"/>
          <a:ext cx="9670680" cy="315288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CSR pledge.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corporate entity making the pledge.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ngo_profile_id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target NGO receiving the pledge.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requirement_id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Optional reference to a specific requirement drive being sponsored.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pledged_amount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NUMERIC(14,2)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monetary contribution pledged by the corporate body.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pledged_hours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NUMERIC(8,2)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Yes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corporate volunteer hours committed.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status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VARCHAR(20)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'pending'</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('pending', 'approved', 'rejected')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Current status of the CSR funding pledge.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pledge was formally submitted.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7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records CSR funding and employee hour commitments pledged by corporate entities to NGOs. It supports both general financial sponsorship for NGOs and specific drive-level funding. It tracks committed funds, hours, and approval status.</a:t>
            </a:r>
            <a:endParaRPr b="0" lang="en-US" sz="1200" spc="-1" strike="noStrike">
              <a:solidFill>
                <a:srgbClr val="000000"/>
              </a:solidFill>
              <a:latin typeface="Arial"/>
            </a:endParaRPr>
          </a:p>
        </p:txBody>
      </p:sp>
      <p:sp>
        <p:nvSpPr>
          <p:cNvPr id="17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9"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csr_employee_participation</a:t>
            </a:r>
            <a:endParaRPr b="0" lang="en-US" sz="2000" spc="-1" strike="noStrike">
              <a:solidFill>
                <a:srgbClr val="000000"/>
              </a:solidFill>
              <a:latin typeface="Arial"/>
            </a:endParaRPr>
          </a:p>
        </p:txBody>
      </p:sp>
      <p:sp>
        <p:nvSpPr>
          <p:cNvPr id="18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81" name="object 6"/>
          <p:cNvGraphicFramePr/>
          <p:nvPr/>
        </p:nvGraphicFramePr>
        <p:xfrm>
          <a:off x="1110600" y="2350080"/>
          <a:ext cx="9670680" cy="281952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employee participation entry.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corporate organization the employee belongs to.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volunteer_profile_id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employee's volunteer profile.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attendance_id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verified attendance record for the event.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credited_hours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NUMERIC(8,2)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Number of volunteering hours credited to corporate CSR stats.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recorded_at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participation was recorded into CSR history.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82"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tracks individual employee volunteering activities for CSR reporting purposes. It links company employees to verified attendance records and logs the hours contributed towards corporate CSR goals. Each attendance record can be linked only once.</a:t>
            </a:r>
            <a:endParaRPr b="0" lang="en-US" sz="1200" spc="-1" strike="noStrike">
              <a:solidFill>
                <a:srgbClr val="000000"/>
              </a:solidFill>
              <a:latin typeface="Arial"/>
            </a:endParaRPr>
          </a:p>
        </p:txBody>
      </p:sp>
      <p:sp>
        <p:nvSpPr>
          <p:cNvPr id="183"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4" name="object 4"/>
          <p:cNvSpPr/>
          <p:nvPr/>
        </p:nvSpPr>
        <p:spPr>
          <a:xfrm>
            <a:off x="667440" y="1260000"/>
            <a:ext cx="8999640" cy="3171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000" spc="-12" strike="noStrike">
                <a:solidFill>
                  <a:srgbClr val="17365d"/>
                </a:solidFill>
                <a:latin typeface="Arial"/>
              </a:rPr>
              <a:t>Table: csr_reports</a:t>
            </a:r>
            <a:endParaRPr b="0" lang="en-US" sz="2000" spc="-1" strike="noStrike">
              <a:solidFill>
                <a:srgbClr val="000000"/>
              </a:solidFill>
              <a:latin typeface="Arial"/>
            </a:endParaRPr>
          </a:p>
        </p:txBody>
      </p:sp>
      <p:sp>
        <p:nvSpPr>
          <p:cNvPr id="185"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chemeClr val="dk1"/>
              </a:solidFill>
              <a:latin typeface="Calibri"/>
            </a:endParaRPr>
          </a:p>
        </p:txBody>
      </p:sp>
      <p:graphicFrame>
        <p:nvGraphicFramePr>
          <p:cNvPr id="186" name="object 6"/>
          <p:cNvGraphicFramePr/>
          <p:nvPr/>
        </p:nvGraphicFramePr>
        <p:xfrm>
          <a:off x="1110600" y="2350080"/>
          <a:ext cx="9670680" cy="2664000"/>
        </p:xfrm>
        <a:graphic>
          <a:graphicData uri="http://schemas.openxmlformats.org/drawingml/2006/table">
            <a:tbl>
              <a:tblPr/>
              <a:tblGrid>
                <a:gridCol w="1299960"/>
                <a:gridCol w="1149840"/>
                <a:gridCol w="749880"/>
                <a:gridCol w="999720"/>
                <a:gridCol w="1849680"/>
                <a:gridCol w="3620880"/>
              </a:tblGrid>
              <a:tr h="419760">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Column Name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Data Type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algn="ctr" defTabSz="914400">
                        <a:lnSpc>
                          <a:spcPct val="100000"/>
                        </a:lnSpc>
                        <a:spcBef>
                          <a:spcPts val="300"/>
                        </a:spcBef>
                      </a:pPr>
                      <a:r>
                        <a:rPr b="1" lang="en-US" sz="1100" spc="-1" strike="noStrike">
                          <a:solidFill>
                            <a:srgbClr val="000000"/>
                          </a:solidFill>
                          <a:latin typeface="Times New Roman"/>
                        </a:rPr>
                        <a:t>Nullable</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Default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Key / Constraint</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anchor="ctr">
                      <a:noAutofit/>
                    </a:bodyPr>
                    <a:p>
                      <a:pPr marL="45720" defTabSz="914400">
                        <a:lnSpc>
                          <a:spcPct val="100000"/>
                        </a:lnSpc>
                        <a:spcBef>
                          <a:spcPts val="300"/>
                        </a:spcBef>
                      </a:pPr>
                      <a:r>
                        <a:rPr b="1" lang="en-US" sz="1100" spc="-1" strike="noStrike">
                          <a:solidFill>
                            <a:srgbClr val="000000"/>
                          </a:solidFill>
                          <a:latin typeface="Times New Roman"/>
                        </a:rPr>
                        <a:t>Description</a:t>
                      </a:r>
                      <a:endParaRPr b="0" lang="en-US" sz="11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uuid_generate_v4()</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Primary Key</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Unique identifier for the annual CSR report.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corporate_profile_id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UUID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Foreign Key, Unique (with report_year)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References the corporate entity generating the report.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report_year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INTEGER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Check (&gt;= 2025), Unique (with corporate_profile_id)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Reporting year for the aggregated CSR statistics.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total_funds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NUMERIC(14,2)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financial contributions pledged and spent in the given year.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39996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total_employee_hours</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NUMERIC(10,2)</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0</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Total combined volunteer hours completed by employees in the year.</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234720">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generated_at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TIMESTAMPTZ</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algn="ctr" defTabSz="914400">
                        <a:lnSpc>
                          <a:spcPct val="100000"/>
                        </a:lnSpc>
                        <a:spcBef>
                          <a:spcPts val="300"/>
                        </a:spcBef>
                      </a:pPr>
                      <a:r>
                        <a:rPr b="0" lang="en-US" sz="1000" spc="-1" strike="noStrike">
                          <a:solidFill>
                            <a:srgbClr val="000000"/>
                          </a:solidFill>
                          <a:latin typeface="Times New Roman"/>
                        </a:rPr>
                        <a:t>No</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NOW()</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anchor="ctr">
                      <a:noAutofit/>
                    </a:bodyPr>
                    <a:p>
                      <a:pPr marL="45720" defTabSz="914400">
                        <a:lnSpc>
                          <a:spcPct val="100000"/>
                        </a:lnSpc>
                        <a:spcBef>
                          <a:spcPts val="300"/>
                        </a:spcBef>
                      </a:pPr>
                      <a:r>
                        <a:rPr b="0" lang="en-US" sz="1000" spc="-1" strike="noStrike">
                          <a:solidFill>
                            <a:srgbClr val="000000"/>
                          </a:solidFill>
                          <a:latin typeface="Times New Roman"/>
                        </a:rPr>
                        <a:t>Timestamp when the report snapshot was generated.</a:t>
                      </a:r>
                      <a:endParaRPr b="0" lang="en-US" sz="1000" spc="-1" strike="noStrike">
                        <a:solidFill>
                          <a:srgbClr val="000000"/>
                        </a:solidFill>
                        <a:latin typeface="Arial"/>
                      </a:endParaRPr>
                    </a:p>
                  </a:txBody>
                  <a:tcPr anchor="ctr">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87" name="object 7"/>
          <p:cNvSpPr/>
          <p:nvPr/>
        </p:nvSpPr>
        <p:spPr>
          <a:xfrm>
            <a:off x="667440" y="1649880"/>
            <a:ext cx="10856880" cy="649800"/>
          </a:xfrm>
          <a:prstGeom prst="rect">
            <a:avLst/>
          </a:prstGeom>
          <a:noFill/>
          <a:ln w="0">
            <a:noFill/>
          </a:ln>
        </p:spPr>
        <p:style>
          <a:lnRef idx="0"/>
          <a:fillRef idx="0"/>
          <a:effectRef idx="0"/>
          <a:fontRef idx="minor"/>
        </p:style>
        <p:txBody>
          <a:bodyPr lIns="0" rIns="0" tIns="12600" bIns="0" anchor="t">
            <a:normAutofit/>
          </a:bodyPr>
          <a:p>
            <a:pPr marL="12600" defTabSz="914400">
              <a:lnSpc>
                <a:spcPct val="115000"/>
              </a:lnSpc>
              <a:spcBef>
                <a:spcPts val="99"/>
              </a:spcBef>
            </a:pPr>
            <a:r>
              <a:rPr b="0" lang="en-US" sz="1200" spc="-1" strike="noStrike">
                <a:solidFill>
                  <a:srgbClr val="404040"/>
                </a:solidFill>
                <a:latin typeface="Arial MT"/>
              </a:rPr>
              <a:t>This table stores annual CSR summary reports generated by corporate organizations. It captures consolidated totals of financial contributions and employee volunteering hours for specific financial years. It ensures accurate snapshot reporting for compliance.</a:t>
            </a:r>
            <a:endParaRPr b="0" lang="en-US" sz="1200" spc="-1" strike="noStrike">
              <a:solidFill>
                <a:srgbClr val="000000"/>
              </a:solidFill>
              <a:latin typeface="Arial"/>
            </a:endParaRPr>
          </a:p>
        </p:txBody>
      </p:sp>
      <p:sp>
        <p:nvSpPr>
          <p:cNvPr id="188" name="PlaceHolder 1"/>
          <p:cNvSpPr>
            <a:spLocks noGrp="1"/>
          </p:cNvSpPr>
          <p:nvPr>
            <p:ph type="title"/>
          </p:nvPr>
        </p:nvSpPr>
        <p:spPr>
          <a:xfrm>
            <a:off x="667440" y="-21600"/>
            <a:ext cx="3068640" cy="1157760"/>
          </a:xfrm>
          <a:prstGeom prst="rect">
            <a:avLst/>
          </a:prstGeom>
          <a:noFill/>
          <a:ln w="0">
            <a:noFill/>
          </a:ln>
        </p:spPr>
        <p:txBody>
          <a:bodyPr lIns="0" rIns="0" tIns="12600" bIns="0" anchor="ctr">
            <a:noAutofit/>
          </a:bodyPr>
          <a:p>
            <a:pPr marL="12600" indent="0" defTabSz="914400">
              <a:lnSpc>
                <a:spcPct val="100000"/>
              </a:lnSpc>
              <a:spcBef>
                <a:spcPts val="99"/>
              </a:spcBef>
              <a:buNone/>
            </a:pPr>
            <a:r>
              <a:rPr b="1" lang="en-US" sz="2800" spc="-21" strike="noStrike">
                <a:solidFill>
                  <a:srgbClr val="17365d"/>
                </a:solidFill>
                <a:latin typeface="Arial"/>
              </a:rPr>
              <a:t>Data</a:t>
            </a:r>
            <a:r>
              <a:rPr b="1" lang="en-US" sz="2800" spc="-21" strike="noStrike">
                <a:solidFill>
                  <a:srgbClr val="17365d"/>
                </a:solidFill>
                <a:latin typeface="Arial"/>
              </a:rPr>
              <a:t> </a:t>
            </a:r>
            <a:r>
              <a:rPr b="1" lang="en-US" sz="2800" spc="-12" strike="noStrike">
                <a:solidFill>
                  <a:srgbClr val="17365d"/>
                </a:solidFill>
                <a:latin typeface="Arial"/>
              </a:rPr>
              <a:t>Dictionary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9" name="object 2"/>
          <p:cNvSpPr/>
          <p:nvPr/>
        </p:nvSpPr>
        <p:spPr>
          <a:xfrm>
            <a:off x="667440" y="331200"/>
            <a:ext cx="2508120" cy="43920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n-US" sz="2800" spc="-12" strike="noStrike">
                <a:solidFill>
                  <a:srgbClr val="17365d"/>
                </a:solidFill>
                <a:latin typeface="Arial"/>
              </a:rPr>
              <a:t>Future Scope</a:t>
            </a:r>
            <a:endParaRPr b="0" lang="en-US" sz="2800" spc="-1" strike="noStrike">
              <a:solidFill>
                <a:srgbClr val="000000"/>
              </a:solidFill>
              <a:latin typeface="Arial"/>
            </a:endParaRPr>
          </a:p>
        </p:txBody>
      </p:sp>
      <p:sp>
        <p:nvSpPr>
          <p:cNvPr id="190" name="object 3"/>
          <p:cNvSpPr/>
          <p:nvPr/>
        </p:nvSpPr>
        <p:spPr>
          <a:xfrm>
            <a:off x="896040" y="1500120"/>
            <a:ext cx="10670400" cy="2756520"/>
          </a:xfrm>
          <a:prstGeom prst="rect">
            <a:avLst/>
          </a:prstGeom>
          <a:noFill/>
          <a:ln w="0">
            <a:noFill/>
          </a:ln>
        </p:spPr>
        <p:style>
          <a:lnRef idx="0"/>
          <a:fillRef idx="0"/>
          <a:effectRef idx="0"/>
          <a:fontRef idx="minor"/>
        </p:style>
        <p:txBody>
          <a:bodyPr lIns="0" rIns="0" tIns="12600" bIns="0" anchor="t">
            <a:spAutoFit/>
          </a:bodyPr>
          <a:p>
            <a:pPr marL="285840" indent="-285840" defTabSz="914400">
              <a:lnSpc>
                <a:spcPct val="100000"/>
              </a:lnSpc>
              <a:buClr>
                <a:srgbClr val="202124"/>
              </a:buClr>
              <a:buFont typeface="Arial"/>
              <a:buChar char="•"/>
            </a:pPr>
            <a:r>
              <a:rPr b="0" lang="en-US" sz="2000" spc="-1" strike="noStrike">
                <a:solidFill>
                  <a:srgbClr val="202124"/>
                </a:solidFill>
                <a:latin typeface="Arial MT"/>
              </a:rPr>
              <a:t>Payment Gateway Integration: Integrate a real payment gateway to enable secure and actual CSR fund transfers.</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marL="285840" indent="-285840" defTabSz="914400">
              <a:lnSpc>
                <a:spcPct val="100000"/>
              </a:lnSpc>
              <a:buClr>
                <a:srgbClr val="202124"/>
              </a:buClr>
              <a:buFont typeface="Arial"/>
              <a:buChar char="•"/>
            </a:pPr>
            <a:r>
              <a:rPr b="0" lang="en-US" sz="2000" spc="-1" strike="noStrike">
                <a:solidFill>
                  <a:srgbClr val="202124"/>
                </a:solidFill>
                <a:latin typeface="Arial MT"/>
              </a:rPr>
              <a:t>Email Verification: Add email verification during registration to validate user email addresses.</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marL="285840" indent="-285840" defTabSz="914400">
              <a:lnSpc>
                <a:spcPct val="100000"/>
              </a:lnSpc>
              <a:buClr>
                <a:srgbClr val="202124"/>
              </a:buClr>
              <a:buFont typeface="Arial"/>
              <a:buChar char="•"/>
            </a:pPr>
            <a:r>
              <a:rPr b="0" lang="en-US" sz="2000" spc="-1" strike="noStrike">
                <a:solidFill>
                  <a:srgbClr val="202124"/>
                </a:solidFill>
                <a:latin typeface="Arial MT"/>
              </a:rPr>
              <a:t>Forgot/Change Password: Provide secure options for users to change their password and recover forgotten passwords through email verification</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p:txBody>
      </p:sp>
      <p:sp>
        <p:nvSpPr>
          <p:cNvPr id="191"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192" name="PlaceHolder 1"/>
          <p:cNvSpPr>
            <a:spLocks noGrp="1"/>
          </p:cNvSpPr>
          <p:nvPr>
            <p:ph type="sldNum" idx="22"/>
          </p:nvPr>
        </p:nvSpPr>
        <p:spPr>
          <a:xfrm>
            <a:off x="11361960" y="6542280"/>
            <a:ext cx="216000" cy="3979080"/>
          </a:xfrm>
          <a:prstGeom prst="rect">
            <a:avLst/>
          </a:prstGeom>
          <a:noFill/>
          <a:ln w="0">
            <a:noFill/>
          </a:ln>
        </p:spPr>
        <p:txBody>
          <a:bodyPr lIns="0" rIns="0" tIns="1800" bIns="0" anchor="t">
            <a:noAutofit/>
          </a:bodyPr>
          <a:lstStyle>
            <a:lvl1pPr marL="38160" indent="0" defTabSz="914400">
              <a:lnSpc>
                <a:spcPct val="100000"/>
              </a:lnSpc>
              <a:spcBef>
                <a:spcPts val="14"/>
              </a:spcBef>
              <a:buNone/>
              <a:tabLst>
                <a:tab algn="l" pos="0"/>
              </a:tabLst>
              <a:defRPr b="0" lang="en-US" sz="900" spc="-26" strike="noStrike">
                <a:solidFill>
                  <a:srgbClr val="667085"/>
                </a:solidFill>
                <a:latin typeface="Arial MT"/>
              </a:defRPr>
            </a:lvl1pPr>
          </a:lstStyle>
          <a:p>
            <a:pPr marL="38160" indent="0" defTabSz="914400">
              <a:lnSpc>
                <a:spcPct val="100000"/>
              </a:lnSpc>
              <a:spcBef>
                <a:spcPts val="14"/>
              </a:spcBef>
              <a:buNone/>
              <a:tabLst>
                <a:tab algn="l" pos="0"/>
              </a:tabLst>
            </a:pPr>
            <a:r>
              <a:rPr b="0" lang="en-US" sz="900" spc="-26" strike="noStrike">
                <a:solidFill>
                  <a:srgbClr val="667085"/>
                </a:solidFill>
                <a:latin typeface="Arial MT"/>
              </a:rPr>
              <a:t>16</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2" strike="noStrike">
                <a:solidFill>
                  <a:srgbClr val="17365d"/>
                </a:solidFill>
                <a:latin typeface="Arial"/>
              </a:rPr>
              <a:t>Conclusion</a:t>
            </a:r>
            <a:endParaRPr b="0" lang="en-US" sz="2800" spc="-1" strike="noStrike">
              <a:solidFill>
                <a:schemeClr val="dk1"/>
              </a:solidFill>
              <a:latin typeface="Calibri"/>
            </a:endParaRPr>
          </a:p>
        </p:txBody>
      </p:sp>
      <p:sp>
        <p:nvSpPr>
          <p:cNvPr id="194" name="object 3"/>
          <p:cNvSpPr/>
          <p:nvPr/>
        </p:nvSpPr>
        <p:spPr>
          <a:xfrm>
            <a:off x="896040" y="1306080"/>
            <a:ext cx="10670400" cy="2536200"/>
          </a:xfrm>
          <a:prstGeom prst="rect">
            <a:avLst/>
          </a:prstGeom>
          <a:noFill/>
          <a:ln w="0">
            <a:noFill/>
          </a:ln>
        </p:spPr>
        <p:style>
          <a:lnRef idx="0"/>
          <a:fillRef idx="0"/>
          <a:effectRef idx="0"/>
          <a:fontRef idx="minor"/>
        </p:style>
        <p:txBody>
          <a:bodyPr lIns="0" rIns="0" tIns="12600" bIns="0" anchor="t">
            <a:spAutoFit/>
          </a:bodyPr>
          <a:p>
            <a:pPr marL="355680" indent="-343080" defTabSz="914400">
              <a:lnSpc>
                <a:spcPct val="100000"/>
              </a:lnSpc>
              <a:buClr>
                <a:srgbClr val="202124"/>
              </a:buClr>
              <a:buFont typeface="Arial"/>
              <a:buChar char="•"/>
            </a:pPr>
            <a:r>
              <a:rPr b="0" lang="en-US" sz="2200" spc="-1" strike="noStrike">
                <a:solidFill>
                  <a:srgbClr val="202124"/>
                </a:solidFill>
                <a:latin typeface="Arial MT"/>
              </a:rPr>
              <a:t>Helping Hands successfully demonstrates a verified, transparent platform for volunteer and CSR coordination, bringing Volunteers, NGOs, and Corporate Organizations together under a common system built on GPS-verified attendance, automated credit and certificate tracking, and accountable CSR reporting.</a:t>
            </a:r>
            <a:endParaRPr b="0" lang="en-US" sz="2200" spc="-1" strike="noStrike">
              <a:solidFill>
                <a:srgbClr val="000000"/>
              </a:solidFill>
              <a:latin typeface="Arial"/>
            </a:endParaRPr>
          </a:p>
          <a:p>
            <a:pPr marL="355680" indent="-343080" defTabSz="914400">
              <a:lnSpc>
                <a:spcPct val="100000"/>
              </a:lnSpc>
              <a:spcBef>
                <a:spcPts val="1400"/>
              </a:spcBef>
              <a:buClr>
                <a:srgbClr val="202124"/>
              </a:buClr>
              <a:buFont typeface="Arial"/>
              <a:buChar char="•"/>
            </a:pPr>
            <a:r>
              <a:rPr b="0" lang="en-US" sz="2200" spc="-1" strike="noStrike">
                <a:solidFill>
                  <a:srgbClr val="202124"/>
                </a:solidFill>
                <a:latin typeface="Arial MT"/>
              </a:rPr>
              <a:t>The layered architecture leaves room for the enhancements identified above without requiring a redesign of the existing schema or codebase.</a:t>
            </a:r>
            <a:endParaRPr b="0" lang="en-US" sz="2200" spc="-1" strike="noStrike">
              <a:solidFill>
                <a:srgbClr val="000000"/>
              </a:solidFill>
              <a:latin typeface="Arial"/>
            </a:endParaRPr>
          </a:p>
        </p:txBody>
      </p:sp>
      <p:sp>
        <p:nvSpPr>
          <p:cNvPr id="195"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196" name="PlaceHolder 2"/>
          <p:cNvSpPr>
            <a:spLocks noGrp="1"/>
          </p:cNvSpPr>
          <p:nvPr>
            <p:ph type="sldNum" idx="23"/>
          </p:nvPr>
        </p:nvSpPr>
        <p:spPr>
          <a:xfrm>
            <a:off x="11361960" y="6542280"/>
            <a:ext cx="216000" cy="3979080"/>
          </a:xfrm>
          <a:prstGeom prst="rect">
            <a:avLst/>
          </a:prstGeom>
          <a:noFill/>
          <a:ln w="0">
            <a:noFill/>
          </a:ln>
        </p:spPr>
        <p:txBody>
          <a:bodyPr lIns="0" rIns="0" tIns="1800" bIns="0" anchor="t">
            <a:noAutofit/>
          </a:bodyPr>
          <a:lstStyle>
            <a:lvl1pPr marL="38160" indent="0" defTabSz="914400">
              <a:lnSpc>
                <a:spcPct val="100000"/>
              </a:lnSpc>
              <a:spcBef>
                <a:spcPts val="14"/>
              </a:spcBef>
              <a:buNone/>
              <a:tabLst>
                <a:tab algn="l" pos="0"/>
              </a:tabLst>
              <a:defRPr b="0" lang="en-US" sz="900" spc="-26" strike="noStrike">
                <a:solidFill>
                  <a:srgbClr val="667085"/>
                </a:solidFill>
                <a:latin typeface="Arial MT"/>
              </a:defRPr>
            </a:lvl1pPr>
          </a:lstStyle>
          <a:p>
            <a:pPr marL="38160" indent="0" defTabSz="914400">
              <a:lnSpc>
                <a:spcPct val="100000"/>
              </a:lnSpc>
              <a:spcBef>
                <a:spcPts val="14"/>
              </a:spcBef>
              <a:buNone/>
              <a:tabLst>
                <a:tab algn="l" pos="0"/>
              </a:tabLst>
            </a:pPr>
            <a:r>
              <a:rPr b="0" lang="en-US" sz="900" spc="-26" strike="noStrike">
                <a:solidFill>
                  <a:srgbClr val="667085"/>
                </a:solidFill>
                <a:latin typeface="Arial MT"/>
              </a:rPr>
              <a:t>17</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667440" y="331200"/>
            <a:ext cx="4587120" cy="115740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1" lang="en-US" sz="2800" spc="-12" strike="noStrike">
                <a:solidFill>
                  <a:srgbClr val="17365d"/>
                </a:solidFill>
                <a:latin typeface="Arial"/>
              </a:rPr>
              <a:t>Bibliography</a:t>
            </a:r>
            <a:endParaRPr b="0" lang="en-US" sz="2800" spc="-1" strike="noStrike">
              <a:solidFill>
                <a:schemeClr val="dk1"/>
              </a:solidFill>
              <a:latin typeface="Calibri"/>
            </a:endParaRPr>
          </a:p>
        </p:txBody>
      </p:sp>
      <p:sp>
        <p:nvSpPr>
          <p:cNvPr id="198" name="object 3"/>
          <p:cNvSpPr/>
          <p:nvPr/>
        </p:nvSpPr>
        <p:spPr>
          <a:xfrm>
            <a:off x="896040" y="1306080"/>
            <a:ext cx="10670400" cy="1430280"/>
          </a:xfrm>
          <a:prstGeom prst="rect">
            <a:avLst/>
          </a:prstGeom>
          <a:noFill/>
          <a:ln w="0">
            <a:noFill/>
          </a:ln>
        </p:spPr>
        <p:style>
          <a:lnRef idx="0"/>
          <a:fillRef idx="0"/>
          <a:effectRef idx="0"/>
          <a:fontRef idx="minor"/>
        </p:style>
        <p:txBody>
          <a:bodyPr lIns="0" rIns="0" tIns="12600" bIns="0" anchor="t">
            <a:spAutoFit/>
          </a:bodyPr>
          <a:p>
            <a:pPr marL="285840" indent="-285840" defTabSz="914400">
              <a:lnSpc>
                <a:spcPct val="100000"/>
              </a:lnSpc>
              <a:buClr>
                <a:srgbClr val="202124"/>
              </a:buClr>
              <a:buFont typeface="Arial"/>
              <a:buChar char="•"/>
            </a:pPr>
            <a:r>
              <a:rPr b="0" lang="en-US" sz="1700" spc="-1" strike="noStrike">
                <a:solidFill>
                  <a:srgbClr val="202124"/>
                </a:solidFill>
                <a:latin typeface="Arial MT"/>
              </a:rPr>
              <a:t>FastAPI documentation — https://fastapi.tiangolo.com/</a:t>
            </a:r>
            <a:endParaRPr b="0" lang="en-US" sz="1700" spc="-1" strike="noStrike">
              <a:solidFill>
                <a:srgbClr val="000000"/>
              </a:solidFill>
              <a:latin typeface="Arial"/>
            </a:endParaRPr>
          </a:p>
          <a:p>
            <a:pPr marL="285840" indent="-285840" defTabSz="914400">
              <a:lnSpc>
                <a:spcPct val="100000"/>
              </a:lnSpc>
              <a:spcBef>
                <a:spcPts val="1001"/>
              </a:spcBef>
              <a:buClr>
                <a:srgbClr val="202124"/>
              </a:buClr>
              <a:buFont typeface="Arial"/>
              <a:buChar char="•"/>
            </a:pPr>
            <a:r>
              <a:rPr b="0" lang="en-US" sz="1700" spc="-1" strike="noStrike">
                <a:solidFill>
                  <a:srgbClr val="202124"/>
                </a:solidFill>
                <a:latin typeface="Arial MT"/>
              </a:rPr>
              <a:t>React documentation — https://react.dev/</a:t>
            </a:r>
            <a:endParaRPr b="0" lang="en-US" sz="1700" spc="-1" strike="noStrike">
              <a:solidFill>
                <a:srgbClr val="000000"/>
              </a:solidFill>
              <a:latin typeface="Arial"/>
            </a:endParaRPr>
          </a:p>
          <a:p>
            <a:pPr marL="285840" indent="-285840" defTabSz="914400">
              <a:lnSpc>
                <a:spcPct val="100000"/>
              </a:lnSpc>
              <a:spcBef>
                <a:spcPts val="1001"/>
              </a:spcBef>
              <a:buClr>
                <a:srgbClr val="202124"/>
              </a:buClr>
              <a:buFont typeface="Arial"/>
              <a:buChar char="•"/>
            </a:pPr>
            <a:r>
              <a:rPr b="0" lang="en-US" sz="1700" spc="-1" strike="noStrike">
                <a:solidFill>
                  <a:srgbClr val="202124"/>
                </a:solidFill>
                <a:latin typeface="Arial MT"/>
              </a:rPr>
              <a:t>PostgreSQL documentation — https://www.postgresql.org/docs/</a:t>
            </a:r>
            <a:endParaRPr b="0" lang="en-US" sz="1700" spc="-1" strike="noStrike">
              <a:solidFill>
                <a:srgbClr val="000000"/>
              </a:solidFill>
              <a:latin typeface="Arial"/>
            </a:endParaRPr>
          </a:p>
          <a:p>
            <a:pPr marL="285840" indent="-285840" defTabSz="914400">
              <a:lnSpc>
                <a:spcPct val="100000"/>
              </a:lnSpc>
              <a:spcBef>
                <a:spcPts val="1001"/>
              </a:spcBef>
              <a:buClr>
                <a:srgbClr val="202124"/>
              </a:buClr>
              <a:buFont typeface="Arial"/>
              <a:buChar char="•"/>
            </a:pPr>
            <a:r>
              <a:rPr b="0" lang="en-US" sz="1700" spc="-1" strike="noStrike">
                <a:solidFill>
                  <a:srgbClr val="202124"/>
                </a:solidFill>
                <a:latin typeface="Arial MT"/>
              </a:rPr>
              <a:t>SQLAlchemy Asynchronous ORM documentation — https://docs.sqlalchemy.org/</a:t>
            </a:r>
            <a:endParaRPr b="0" lang="en-US" sz="1700" spc="-1" strike="noStrike">
              <a:solidFill>
                <a:srgbClr val="000000"/>
              </a:solidFill>
              <a:latin typeface="Arial"/>
            </a:endParaRPr>
          </a:p>
        </p:txBody>
      </p:sp>
      <p:sp>
        <p:nvSpPr>
          <p:cNvPr id="199" name="object 4"/>
          <p:cNvSpPr/>
          <p:nvPr/>
        </p:nvSpPr>
        <p:spPr>
          <a:xfrm>
            <a:off x="594360" y="6473880"/>
            <a:ext cx="10972080" cy="17640"/>
          </a:xfrm>
          <a:custGeom>
            <a:avLst/>
            <a:gdLst>
              <a:gd name="textAreaLeft" fmla="*/ 0 w 10972080"/>
              <a:gd name="textAreaRight" fmla="*/ 10972800 w 10972080"/>
              <a:gd name="textAreaTop" fmla="*/ 0 h 17640"/>
              <a:gd name="textAreaBottom" fmla="*/ 18360 h 1764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defTabSz="914400">
              <a:lnSpc>
                <a:spcPct val="100000"/>
              </a:lnSpc>
            </a:pPr>
            <a:endParaRPr b="0" lang="en-US" sz="1800" spc="-1" strike="noStrike">
              <a:solidFill>
                <a:srgbClr val="000000"/>
              </a:solidFill>
              <a:latin typeface="Arial"/>
            </a:endParaRPr>
          </a:p>
        </p:txBody>
      </p:sp>
      <p:sp>
        <p:nvSpPr>
          <p:cNvPr id="200" name="PlaceHolder 2"/>
          <p:cNvSpPr>
            <a:spLocks noGrp="1"/>
          </p:cNvSpPr>
          <p:nvPr>
            <p:ph type="sldNum" idx="24"/>
          </p:nvPr>
        </p:nvSpPr>
        <p:spPr>
          <a:xfrm>
            <a:off x="11361960" y="6542280"/>
            <a:ext cx="216000" cy="3979080"/>
          </a:xfrm>
          <a:prstGeom prst="rect">
            <a:avLst/>
          </a:prstGeom>
          <a:noFill/>
          <a:ln w="0">
            <a:noFill/>
          </a:ln>
        </p:spPr>
        <p:txBody>
          <a:bodyPr lIns="0" rIns="0" tIns="1800" bIns="0" anchor="t">
            <a:noAutofit/>
          </a:bodyPr>
          <a:lstStyle>
            <a:lvl1pPr marL="38160" indent="0" defTabSz="914400">
              <a:lnSpc>
                <a:spcPct val="100000"/>
              </a:lnSpc>
              <a:spcBef>
                <a:spcPts val="14"/>
              </a:spcBef>
              <a:buNone/>
              <a:tabLst>
                <a:tab algn="l" pos="0"/>
              </a:tabLst>
              <a:defRPr b="0" lang="en-US" sz="900" spc="-26" strike="noStrike">
                <a:solidFill>
                  <a:srgbClr val="667085"/>
                </a:solidFill>
                <a:latin typeface="Arial MT"/>
              </a:defRPr>
            </a:lvl1pPr>
          </a:lstStyle>
          <a:p>
            <a:pPr marL="38160" indent="0" defTabSz="914400">
              <a:lnSpc>
                <a:spcPct val="100000"/>
              </a:lnSpc>
              <a:spcBef>
                <a:spcPts val="14"/>
              </a:spcBef>
              <a:buNone/>
              <a:tabLst>
                <a:tab algn="l" pos="0"/>
              </a:tabLst>
            </a:pPr>
            <a:r>
              <a:rPr b="0" lang="en-US" sz="900" spc="-26" strike="noStrike">
                <a:solidFill>
                  <a:srgbClr val="667085"/>
                </a:solidFill>
                <a:latin typeface="Arial MT"/>
              </a:rPr>
              <a:t>18</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150</TotalTime>
  <Application>LibreOffice/24.2.7.2$Linux_X86_64 LibreOffice_project/420$Build-2</Application>
  <AppVersion>15.0000</AppVersion>
  <Words>4309</Words>
  <Paragraphs>1028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2026-09-18T16:24:32Z</dcterms:created>
  <dc:creator/>
  <dc:description/>
  <dc:language>en-US</dc:language>
  <cp:lastModifiedBy/>
  <dcterms:modified xsi:type="dcterms:W3CDTF">2026-09-19T11:24:15Z</dcterms:modified>
  <cp:revision>28</cp:revision>
  <dc:subject/>
  <dc:title>SRS_Project_Presentation.pptx</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2026-09-18T00:00:00Z</vt:filetime>
  </property>
  <property fmtid="{D5CDD505-2E9C-101B-9397-08002B2CF9AE}" pid="4" name="Creator">
    <vt:lpwstr>Google</vt:lpwstr>
  </property>
  <property fmtid="{D5CDD505-2E9C-101B-9397-08002B2CF9AE}" pid="5" name="LastSaved">
    <vt:filetime>2026-09-18T00:00:00Z</vt:filetime>
  </property>
  <property fmtid="{D5CDD505-2E9C-101B-9397-08002B2CF9AE}" pid="6" name="PresentationFormat">
    <vt:lpwstr>Widescreen</vt:lpwstr>
  </property>
  <property fmtid="{D5CDD505-2E9C-101B-9397-08002B2CF9AE}" pid="7" name="Slides">
    <vt:i4>30</vt:i4>
  </property>
</Properties>
</file>